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1430000" cy="10890250"/>
  <p:notesSz cx="11430000" cy="108902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115" autoAdjust="0"/>
  </p:normalViewPr>
  <p:slideViewPr>
    <p:cSldViewPr>
      <p:cViewPr varScale="1">
        <p:scale>
          <a:sx n="68" d="100"/>
          <a:sy n="68" d="100"/>
        </p:scale>
        <p:origin x="738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57250" y="1998027"/>
            <a:ext cx="9715500" cy="135350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1" i="0">
                <a:solidFill>
                  <a:srgbClr val="F94CAE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714500" y="3609340"/>
            <a:ext cx="8001000" cy="16113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50" b="0" i="0">
                <a:solidFill>
                  <a:srgbClr val="DAD1E6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rgbClr val="F94CAE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50" b="0" i="0">
                <a:solidFill>
                  <a:srgbClr val="DAD1E6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8429625"/>
          </a:xfrm>
          <a:custGeom>
            <a:avLst/>
            <a:gdLst/>
            <a:ahLst/>
            <a:cxnLst/>
            <a:rect l="l" t="t" r="r" b="b"/>
            <a:pathLst>
              <a:path w="11430000" h="8429625">
                <a:moveTo>
                  <a:pt x="11430000" y="0"/>
                </a:moveTo>
                <a:lnTo>
                  <a:pt x="0" y="0"/>
                </a:lnTo>
                <a:lnTo>
                  <a:pt x="0" y="8429625"/>
                </a:lnTo>
                <a:lnTo>
                  <a:pt x="11430000" y="8429625"/>
                </a:lnTo>
                <a:lnTo>
                  <a:pt x="11430000" y="0"/>
                </a:lnTo>
                <a:close/>
              </a:path>
            </a:pathLst>
          </a:custGeom>
          <a:solidFill>
            <a:srgbClr val="231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rgbClr val="F94CAE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7150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886450" y="1482407"/>
            <a:ext cx="4972050" cy="4253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950" b="1" i="0">
                <a:solidFill>
                  <a:srgbClr val="F94CAE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1430000" cy="6438900"/>
          </a:xfrm>
          <a:custGeom>
            <a:avLst/>
            <a:gdLst/>
            <a:ahLst/>
            <a:cxnLst/>
            <a:rect l="l" t="t" r="r" b="b"/>
            <a:pathLst>
              <a:path w="11430000" h="6438900">
                <a:moveTo>
                  <a:pt x="11430000" y="0"/>
                </a:moveTo>
                <a:lnTo>
                  <a:pt x="0" y="0"/>
                </a:lnTo>
                <a:lnTo>
                  <a:pt x="0" y="6438900"/>
                </a:lnTo>
                <a:lnTo>
                  <a:pt x="11430000" y="64389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231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73625" y="1424374"/>
            <a:ext cx="4899659" cy="14446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50" b="1" i="0">
                <a:solidFill>
                  <a:srgbClr val="F94CAE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873625" y="3065303"/>
            <a:ext cx="5904230" cy="18637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50" b="0" i="0">
                <a:solidFill>
                  <a:srgbClr val="DAD1E6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886200" y="5994082"/>
            <a:ext cx="36576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715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229600" y="5994082"/>
            <a:ext cx="2628900" cy="32226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pps.apple.com/br/app/expo-go/id982107779" TargetMode="External"/><Relationship Id="rId7" Type="http://schemas.openxmlformats.org/officeDocument/2006/relationships/image" Target="../media/image2.png"/><Relationship Id="rId2" Type="http://schemas.openxmlformats.org/officeDocument/2006/relationships/hyperlink" Target="https://play.google.com/store/search?q=expo%2Bgo&amp;c=app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mma.app/?utm_source=made-with-gamma" TargetMode="External"/><Relationship Id="rId5" Type="http://schemas.openxmlformats.org/officeDocument/2006/relationships/image" Target="../media/image9.png"/><Relationship Id="rId4" Type="http://schemas.openxmlformats.org/officeDocument/2006/relationships/hyperlink" Target="https://qcmlftwkovmajwtljauv.supabase.co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253"/>
            <a:ext cx="4286250" cy="643864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VaiJunto?	Conectando Universitários	com	Caronas Inteligentes</a:t>
            </a:r>
            <a:endParaRPr lang="pt-BR" dirty="0"/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mtClean="0"/>
              <a:t>Bem-vindos à apresentação do VaiJunto?, um projeto inovador desenvolvido para a disciplina de Programação de Dispositivos Móveis com React Native e Expo (Android). Nosso objetivo é simplificar a vida dos estudantes universitários, oferecendo uma plataforma eficiente e segura para compartilhamento de caronas.</a:t>
            </a:r>
          </a:p>
          <a:p>
            <a:endParaRPr lang="pt-BR" smtClean="0"/>
          </a:p>
          <a:p>
            <a:r>
              <a:rPr lang="pt-BR" smtClean="0"/>
              <a:t>Sob a orientação do Prof. Luiz Gustavo Turatti, nossa equipe dedicou-se a criar uma solução que não só otimiza o tempo e os recursos dos usuários, mas também fomenta a conexão e a colaboração dentro da comunidade acadêmica.</a:t>
            </a:r>
            <a:endParaRPr lang="pt-BR" dirty="0"/>
          </a:p>
        </p:txBody>
      </p:sp>
      <p:pic>
        <p:nvPicPr>
          <p:cNvPr id="5" name="object 5">
            <a:hlinkClick r:id="rId3"/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1430000" cy="6477000"/>
          </a:xfrm>
          <a:custGeom>
            <a:avLst/>
            <a:gdLst/>
            <a:ahLst/>
            <a:cxnLst/>
            <a:rect l="l" t="t" r="r" b="b"/>
            <a:pathLst>
              <a:path w="11430000" h="6477000">
                <a:moveTo>
                  <a:pt x="11430000" y="0"/>
                </a:moveTo>
                <a:lnTo>
                  <a:pt x="0" y="0"/>
                </a:lnTo>
                <a:lnTo>
                  <a:pt x="0" y="6477000"/>
                </a:lnTo>
                <a:lnTo>
                  <a:pt x="11430000" y="6477000"/>
                </a:lnTo>
                <a:lnTo>
                  <a:pt x="11430000" y="0"/>
                </a:lnTo>
                <a:close/>
              </a:path>
            </a:pathLst>
          </a:custGeom>
          <a:solidFill>
            <a:srgbClr val="231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7375" y="383825"/>
            <a:ext cx="5648960" cy="475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7350" algn="l"/>
                <a:tab pos="1699260" algn="l"/>
                <a:tab pos="2449195" algn="l"/>
                <a:tab pos="3386454" algn="l"/>
                <a:tab pos="3949065" algn="l"/>
              </a:tabLst>
            </a:pPr>
            <a:r>
              <a:rPr spc="-445" dirty="0"/>
              <a:t>A</a:t>
            </a:r>
            <a:r>
              <a:rPr dirty="0"/>
              <a:t>	</a:t>
            </a:r>
            <a:r>
              <a:rPr spc="-10" dirty="0"/>
              <a:t>Equipe</a:t>
            </a:r>
            <a:r>
              <a:rPr dirty="0"/>
              <a:t>	</a:t>
            </a:r>
            <a:r>
              <a:rPr spc="-25" dirty="0"/>
              <a:t>Por</a:t>
            </a:r>
            <a:r>
              <a:rPr dirty="0"/>
              <a:t>	</a:t>
            </a:r>
            <a:r>
              <a:rPr spc="-20" dirty="0"/>
              <a:t>Trás</a:t>
            </a:r>
            <a:r>
              <a:rPr dirty="0"/>
              <a:t>	</a:t>
            </a:r>
            <a:r>
              <a:rPr spc="-25" dirty="0"/>
              <a:t>do</a:t>
            </a:r>
            <a:r>
              <a:rPr dirty="0"/>
              <a:t>	</a:t>
            </a:r>
            <a:r>
              <a:rPr spc="-25" dirty="0"/>
              <a:t>VaiJunto?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5" y="1190625"/>
            <a:ext cx="3286125" cy="32766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587375" y="4590922"/>
            <a:ext cx="1993264" cy="5670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spc="-10" dirty="0">
                <a:solidFill>
                  <a:srgbClr val="DAD1E6"/>
                </a:solidFill>
                <a:latin typeface="Trebuchet MS"/>
                <a:cs typeface="Trebuchet MS"/>
              </a:rPr>
              <a:t>João</a:t>
            </a:r>
            <a:r>
              <a:rPr sz="1450" b="1" spc="3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Victor</a:t>
            </a:r>
            <a:r>
              <a:rPr sz="1450" b="1" spc="3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35" dirty="0">
                <a:solidFill>
                  <a:srgbClr val="DAD1E6"/>
                </a:solidFill>
                <a:latin typeface="Trebuchet MS"/>
                <a:cs typeface="Trebuchet MS"/>
              </a:rPr>
              <a:t>Romagnoli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11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Matrícula: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u="sng" spc="-1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</a:rPr>
              <a:t>202402531425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76700" y="1190625"/>
            <a:ext cx="3276600" cy="327660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059834" y="4590922"/>
            <a:ext cx="1805939" cy="5670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Victor</a:t>
            </a:r>
            <a:r>
              <a:rPr sz="1450" b="1" spc="35" dirty="0">
                <a:solidFill>
                  <a:srgbClr val="DAD1E6"/>
                </a:solidFill>
                <a:latin typeface="Trebuchet MS"/>
                <a:cs typeface="Trebuchet MS"/>
              </a:rPr>
              <a:t> 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Felipe</a:t>
            </a:r>
            <a:r>
              <a:rPr sz="1450" b="1" spc="40" dirty="0">
                <a:solidFill>
                  <a:srgbClr val="DAD1E6"/>
                </a:solidFill>
                <a:latin typeface="Trebuchet MS"/>
                <a:cs typeface="Trebuchet MS"/>
              </a:rPr>
              <a:t>  </a:t>
            </a:r>
            <a:r>
              <a:rPr sz="1450" b="1" spc="45" dirty="0">
                <a:solidFill>
                  <a:srgbClr val="DAD1E6"/>
                </a:solidFill>
                <a:latin typeface="Trebuchet MS"/>
                <a:cs typeface="Trebuchet MS"/>
              </a:rPr>
              <a:t>Pires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11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Matrícula: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u="sng" spc="-1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</a:rPr>
              <a:t>202403000857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543800" y="1190625"/>
            <a:ext cx="3286125" cy="327660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532293" y="4590922"/>
            <a:ext cx="1704975" cy="5670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Felipe</a:t>
            </a:r>
            <a:r>
              <a:rPr sz="1450" b="1" spc="2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450" b="1" spc="2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DAD1E6"/>
                </a:solidFill>
                <a:latin typeface="Trebuchet MS"/>
                <a:cs typeface="Trebuchet MS"/>
              </a:rPr>
              <a:t>Santos</a:t>
            </a:r>
            <a:endParaRPr sz="14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11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Matrícula: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u="sng" spc="-4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</a:rPr>
              <a:t>202303292406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7367" y="5303678"/>
            <a:ext cx="10191750" cy="7397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5900"/>
              </a:lnSpc>
              <a:spcBef>
                <a:spcPts val="9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Conheça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os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talentos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mentes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dedicadas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que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tornaram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projeto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VaiJunto?</a:t>
            </a:r>
            <a:r>
              <a:rPr sz="1150" b="1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uma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realidade.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Nossa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equipe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é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composta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por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estudantes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apaixonados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por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tecnologia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inovação,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comprometidos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em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entregar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uma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ferramenta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útil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alta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qualidade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comunidade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universitária.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colaboração</a:t>
            </a:r>
            <a:r>
              <a:rPr sz="1150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50" dirty="0">
                <a:solidFill>
                  <a:srgbClr val="DAD1E6"/>
                </a:solidFill>
                <a:latin typeface="Trebuchet MS"/>
                <a:cs typeface="Trebuchet MS"/>
              </a:rPr>
              <a:t>e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expertise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cada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membro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foram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fundamentais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desenvolvimento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desta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plataforma.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11" name="object 11">
            <a:hlinkClick r:id="rId5"/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580244" y="5962650"/>
            <a:ext cx="1754504" cy="41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907700"/>
            <a:ext cx="6024245" cy="475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137285" algn="l"/>
                <a:tab pos="2261870" algn="l"/>
                <a:tab pos="2823845" algn="l"/>
                <a:tab pos="4323715" algn="l"/>
                <a:tab pos="4698365" algn="l"/>
              </a:tabLst>
            </a:pPr>
            <a:r>
              <a:rPr spc="-10" dirty="0"/>
              <a:t>Visão</a:t>
            </a:r>
            <a:r>
              <a:rPr dirty="0"/>
              <a:t>	</a:t>
            </a:r>
            <a:r>
              <a:rPr spc="-10" dirty="0"/>
              <a:t>Geral</a:t>
            </a:r>
            <a:r>
              <a:rPr dirty="0"/>
              <a:t>	</a:t>
            </a:r>
            <a:r>
              <a:rPr spc="-25" dirty="0"/>
              <a:t>do</a:t>
            </a:r>
            <a:r>
              <a:rPr dirty="0"/>
              <a:t>	</a:t>
            </a:r>
            <a:r>
              <a:rPr spc="-10" dirty="0"/>
              <a:t>Projeto</a:t>
            </a:r>
            <a:r>
              <a:rPr dirty="0"/>
              <a:t>	</a:t>
            </a:r>
            <a:r>
              <a:rPr spc="-50" dirty="0"/>
              <a:t>e</a:t>
            </a:r>
            <a:r>
              <a:rPr dirty="0"/>
              <a:t>	</a:t>
            </a:r>
            <a:r>
              <a:rPr spc="-120" dirty="0"/>
              <a:t>Sumário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0075" y="2819399"/>
            <a:ext cx="3314700" cy="190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87375" y="2904998"/>
            <a:ext cx="2813685" cy="10528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Requisitos</a:t>
            </a:r>
            <a:r>
              <a:rPr sz="1450" b="1" spc="100" dirty="0">
                <a:solidFill>
                  <a:srgbClr val="DAD1E6"/>
                </a:solidFill>
                <a:latin typeface="Trebuchet MS"/>
                <a:cs typeface="Trebuchet MS"/>
              </a:rPr>
              <a:t>  </a:t>
            </a:r>
            <a:r>
              <a:rPr sz="1450" b="1" spc="40" dirty="0">
                <a:solidFill>
                  <a:srgbClr val="DAD1E6"/>
                </a:solidFill>
                <a:latin typeface="Trebuchet MS"/>
                <a:cs typeface="Trebuchet MS"/>
              </a:rPr>
              <a:t>Essenciais</a:t>
            </a:r>
            <a:endParaRPr sz="1450">
              <a:latin typeface="Trebuchet MS"/>
              <a:cs typeface="Trebuchet MS"/>
            </a:endParaRPr>
          </a:p>
          <a:p>
            <a:pPr marL="12700" marR="5080">
              <a:lnSpc>
                <a:spcPct val="138600"/>
              </a:lnSpc>
              <a:spcBef>
                <a:spcPts val="575"/>
              </a:spcBef>
            </a:pP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Detalhamento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das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ferramentas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versões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necessárias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ambiente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de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desenvolvimento.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57650" y="2819399"/>
            <a:ext cx="3314700" cy="19050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47337" y="2904998"/>
            <a:ext cx="3205480" cy="8147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Configuração</a:t>
            </a:r>
            <a:r>
              <a:rPr sz="1450" b="1" spc="1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450" b="1" spc="1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Acesso</a:t>
            </a:r>
            <a:r>
              <a:rPr sz="1450" b="1" spc="1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aos</a:t>
            </a:r>
            <a:r>
              <a:rPr sz="1450" b="1" spc="1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20" dirty="0">
                <a:solidFill>
                  <a:srgbClr val="DAD1E6"/>
                </a:solidFill>
                <a:latin typeface="Trebuchet MS"/>
                <a:cs typeface="Trebuchet MS"/>
              </a:rPr>
              <a:t>Dados</a:t>
            </a:r>
            <a:endParaRPr sz="1450">
              <a:latin typeface="Trebuchet MS"/>
              <a:cs typeface="Trebuchet MS"/>
            </a:endParaRPr>
          </a:p>
          <a:p>
            <a:pPr marL="12700" marR="5080">
              <a:lnSpc>
                <a:spcPct val="141300"/>
              </a:lnSpc>
              <a:spcBef>
                <a:spcPts val="54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Orientações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configurar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acesso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ao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0" dirty="0">
                <a:solidFill>
                  <a:srgbClr val="DAD1E6"/>
                </a:solidFill>
                <a:latin typeface="Trebuchet MS"/>
                <a:cs typeface="Trebuchet MS"/>
              </a:rPr>
              <a:t>banco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dados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Supabase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suas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credenciais.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7375" y="1636553"/>
            <a:ext cx="10187305" cy="113982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5080">
              <a:lnSpc>
                <a:spcPct val="138600"/>
              </a:lnSpc>
              <a:spcBef>
                <a:spcPts val="13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VaiJunto?</a:t>
            </a:r>
            <a:r>
              <a:rPr sz="1150" b="1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é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mais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do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que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um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aplicativo;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é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uma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solução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mobile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pensada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o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universitário.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plataforma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visa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conectar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estudantes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que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precisam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ou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podem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oferecer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caronas,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otimizando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transporte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diário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promovendo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um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ambiente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colaboração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entre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comunidade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acadêmica.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foco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50" dirty="0">
                <a:solidFill>
                  <a:srgbClr val="DAD1E6"/>
                </a:solidFill>
                <a:latin typeface="Trebuchet MS"/>
                <a:cs typeface="Trebuchet MS"/>
              </a:rPr>
              <a:t>é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proporcionar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uma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experiência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prática,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segura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eficiente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todos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os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usuários.</a:t>
            </a:r>
            <a:endParaRPr sz="11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11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tabLst>
                <a:tab pos="3472179" algn="l"/>
                <a:tab pos="6932295" algn="l"/>
              </a:tabLst>
            </a:pPr>
            <a:r>
              <a:rPr sz="1150" spc="-25" dirty="0">
                <a:solidFill>
                  <a:srgbClr val="DAD1E6"/>
                </a:solidFill>
                <a:latin typeface="Times New Roman"/>
                <a:cs typeface="Times New Roman"/>
              </a:rPr>
              <a:t>01</a:t>
            </a:r>
            <a:r>
              <a:rPr sz="1150" dirty="0">
                <a:solidFill>
                  <a:srgbClr val="DAD1E6"/>
                </a:solidFill>
                <a:latin typeface="Times New Roman"/>
                <a:cs typeface="Times New Roman"/>
              </a:rPr>
              <a:t>	</a:t>
            </a:r>
            <a:r>
              <a:rPr sz="1150" spc="-25" dirty="0">
                <a:solidFill>
                  <a:srgbClr val="DAD1E6"/>
                </a:solidFill>
                <a:latin typeface="Times New Roman"/>
                <a:cs typeface="Times New Roman"/>
              </a:rPr>
              <a:t>02</a:t>
            </a:r>
            <a:r>
              <a:rPr sz="1150" dirty="0">
                <a:solidFill>
                  <a:srgbClr val="DAD1E6"/>
                </a:solidFill>
                <a:latin typeface="Times New Roman"/>
                <a:cs typeface="Times New Roman"/>
              </a:rPr>
              <a:t>	</a:t>
            </a:r>
            <a:r>
              <a:rPr sz="1150" spc="-25" dirty="0">
                <a:solidFill>
                  <a:srgbClr val="DAD1E6"/>
                </a:solidFill>
                <a:latin typeface="Times New Roman"/>
                <a:cs typeface="Times New Roman"/>
              </a:rPr>
              <a:t>03</a:t>
            </a:r>
            <a:endParaRPr sz="1150">
              <a:latin typeface="Times New Roman"/>
              <a:cs typeface="Times New Roman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24750" y="2819399"/>
            <a:ext cx="3305175" cy="190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7507287" y="2904998"/>
            <a:ext cx="3040380" cy="8147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Estrutura</a:t>
            </a:r>
            <a:r>
              <a:rPr sz="1450" b="1" spc="3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450" b="1" spc="3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DAD1E6"/>
                </a:solidFill>
                <a:latin typeface="Trebuchet MS"/>
                <a:cs typeface="Trebuchet MS"/>
              </a:rPr>
              <a:t>Projeto</a:t>
            </a:r>
            <a:endParaRPr sz="1450">
              <a:latin typeface="Trebuchet MS"/>
              <a:cs typeface="Trebuchet MS"/>
            </a:endParaRPr>
          </a:p>
          <a:p>
            <a:pPr marL="12700" marR="5080">
              <a:lnSpc>
                <a:spcPct val="141300"/>
              </a:lnSpc>
              <a:spcBef>
                <a:spcPts val="54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Visão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geral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da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arquitetura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organização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dos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diretórios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aplicativo.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7375" y="4228306"/>
            <a:ext cx="17589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150" spc="-25" dirty="0">
                <a:solidFill>
                  <a:srgbClr val="DAD1E6"/>
                </a:solidFill>
                <a:latin typeface="Times New Roman"/>
                <a:cs typeface="Times New Roman"/>
              </a:rPr>
              <a:t>04</a:t>
            </a:r>
            <a:endParaRPr sz="1150">
              <a:latin typeface="Times New Roman"/>
              <a:cs typeface="Times New Roman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0075" y="4476750"/>
            <a:ext cx="5038725" cy="19050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587375" y="4562347"/>
            <a:ext cx="4594860" cy="8051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spc="50" dirty="0">
                <a:solidFill>
                  <a:srgbClr val="DAD1E6"/>
                </a:solidFill>
                <a:latin typeface="Trebuchet MS"/>
                <a:cs typeface="Trebuchet MS"/>
              </a:rPr>
              <a:t>Instalação</a:t>
            </a:r>
            <a:r>
              <a:rPr sz="1450" b="1" spc="2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450" b="1" spc="2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DAD1E6"/>
                </a:solidFill>
                <a:latin typeface="Trebuchet MS"/>
                <a:cs typeface="Trebuchet MS"/>
              </a:rPr>
              <a:t>Execução</a:t>
            </a:r>
            <a:endParaRPr sz="1450">
              <a:latin typeface="Trebuchet MS"/>
              <a:cs typeface="Trebuchet MS"/>
            </a:endParaRPr>
          </a:p>
          <a:p>
            <a:pPr marL="12700" marR="5080">
              <a:lnSpc>
                <a:spcPct val="135900"/>
              </a:lnSpc>
              <a:spcBef>
                <a:spcPts val="615"/>
              </a:spcBef>
            </a:pP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Guia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passo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passo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instalar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as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dependências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rodar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projeto localmente.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77306" y="4228306"/>
            <a:ext cx="175895" cy="2057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150" spc="-25" dirty="0">
                <a:solidFill>
                  <a:srgbClr val="DAD1E6"/>
                </a:solidFill>
                <a:latin typeface="Times New Roman"/>
                <a:cs typeface="Times New Roman"/>
              </a:rPr>
              <a:t>05</a:t>
            </a:r>
            <a:endParaRPr sz="1150">
              <a:latin typeface="Times New Roman"/>
              <a:cs typeface="Times New Roman"/>
            </a:endParaRPr>
          </a:p>
        </p:txBody>
      </p:sp>
      <p:pic>
        <p:nvPicPr>
          <p:cNvPr id="14" name="object 1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791200" y="4476750"/>
            <a:ext cx="5038725" cy="19050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5777306" y="4562347"/>
            <a:ext cx="4632325" cy="80518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Telas</a:t>
            </a:r>
            <a:r>
              <a:rPr sz="1450" b="1" spc="2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450" b="1" spc="254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DAD1E6"/>
                </a:solidFill>
                <a:latin typeface="Trebuchet MS"/>
                <a:cs typeface="Trebuchet MS"/>
              </a:rPr>
              <a:t>Projeto</a:t>
            </a:r>
            <a:endParaRPr sz="1450">
              <a:latin typeface="Trebuchet MS"/>
              <a:cs typeface="Trebuchet MS"/>
            </a:endParaRPr>
          </a:p>
          <a:p>
            <a:pPr marL="12700" marR="5080">
              <a:lnSpc>
                <a:spcPct val="135900"/>
              </a:lnSpc>
              <a:spcBef>
                <a:spcPts val="615"/>
              </a:spcBef>
            </a:pP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Apresentação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das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principais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interfaces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funcionalidades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visuais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do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aplicativo.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16" name="object 16">
            <a:hlinkClick r:id="rId5"/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580244" y="5926073"/>
            <a:ext cx="1754504" cy="41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"/>
            <a:ext cx="11430000" cy="10877550"/>
          </a:xfrm>
          <a:custGeom>
            <a:avLst/>
            <a:gdLst/>
            <a:ahLst/>
            <a:cxnLst/>
            <a:rect l="l" t="t" r="r" b="b"/>
            <a:pathLst>
              <a:path w="11430000" h="10877550">
                <a:moveTo>
                  <a:pt x="11430000" y="0"/>
                </a:moveTo>
                <a:lnTo>
                  <a:pt x="0" y="0"/>
                </a:lnTo>
                <a:lnTo>
                  <a:pt x="0" y="10877550"/>
                </a:lnTo>
                <a:lnTo>
                  <a:pt x="11430000" y="10877550"/>
                </a:lnTo>
                <a:lnTo>
                  <a:pt x="11430000" y="0"/>
                </a:lnTo>
                <a:close/>
              </a:path>
            </a:pathLst>
          </a:custGeom>
          <a:solidFill>
            <a:srgbClr val="23153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87375" y="357574"/>
            <a:ext cx="7523480" cy="977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5900"/>
              </a:lnSpc>
              <a:spcBef>
                <a:spcPts val="100"/>
              </a:spcBef>
              <a:tabLst>
                <a:tab pos="2074545" algn="l"/>
                <a:tab pos="2449195" algn="l"/>
                <a:tab pos="4885690" algn="l"/>
                <a:tab pos="5448300" algn="l"/>
                <a:tab pos="7135495" algn="l"/>
              </a:tabLst>
            </a:pPr>
            <a:r>
              <a:rPr spc="40" dirty="0"/>
              <a:t>Requisitos</a:t>
            </a:r>
            <a:r>
              <a:rPr dirty="0"/>
              <a:t>	</a:t>
            </a:r>
            <a:r>
              <a:rPr spc="-50" dirty="0"/>
              <a:t>e</a:t>
            </a:r>
            <a:r>
              <a:rPr dirty="0"/>
              <a:t>	</a:t>
            </a:r>
            <a:r>
              <a:rPr spc="-10" dirty="0"/>
              <a:t>Configuração</a:t>
            </a:r>
            <a:r>
              <a:rPr dirty="0"/>
              <a:t>	</a:t>
            </a:r>
            <a:r>
              <a:rPr spc="-25" dirty="0"/>
              <a:t>do</a:t>
            </a:r>
            <a:r>
              <a:rPr dirty="0"/>
              <a:t>	</a:t>
            </a:r>
            <a:r>
              <a:rPr spc="-10" dirty="0"/>
              <a:t>Ambiente</a:t>
            </a:r>
            <a:r>
              <a:rPr dirty="0"/>
              <a:t>	</a:t>
            </a:r>
            <a:r>
              <a:rPr spc="-254" dirty="0"/>
              <a:t>de </a:t>
            </a:r>
            <a:r>
              <a:rPr spc="-50" dirty="0"/>
              <a:t>Desenvolvimento</a:t>
            </a:r>
          </a:p>
        </p:txBody>
      </p:sp>
      <p:sp>
        <p:nvSpPr>
          <p:cNvPr id="4" name="object 4"/>
          <p:cNvSpPr/>
          <p:nvPr/>
        </p:nvSpPr>
        <p:spPr>
          <a:xfrm>
            <a:off x="619125" y="2247899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9125" y="2543174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19125" y="2838449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347353" y="3162300"/>
            <a:ext cx="36195" cy="9525"/>
          </a:xfrm>
          <a:custGeom>
            <a:avLst/>
            <a:gdLst/>
            <a:ahLst/>
            <a:cxnLst/>
            <a:rect l="l" t="t" r="r" b="b"/>
            <a:pathLst>
              <a:path w="36194" h="9525">
                <a:moveTo>
                  <a:pt x="35864" y="0"/>
                </a:moveTo>
                <a:lnTo>
                  <a:pt x="0" y="0"/>
                </a:lnTo>
                <a:lnTo>
                  <a:pt x="0" y="9524"/>
                </a:lnTo>
                <a:lnTo>
                  <a:pt x="35864" y="9524"/>
                </a:lnTo>
                <a:lnTo>
                  <a:pt x="35864" y="0"/>
                </a:lnTo>
                <a:close/>
              </a:path>
            </a:pathLst>
          </a:custGeom>
          <a:solidFill>
            <a:srgbClr val="F94CA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777159" y="3162300"/>
            <a:ext cx="36195" cy="9525"/>
          </a:xfrm>
          <a:custGeom>
            <a:avLst/>
            <a:gdLst/>
            <a:ahLst/>
            <a:cxnLst/>
            <a:rect l="l" t="t" r="r" b="b"/>
            <a:pathLst>
              <a:path w="36194" h="9525">
                <a:moveTo>
                  <a:pt x="35852" y="0"/>
                </a:moveTo>
                <a:lnTo>
                  <a:pt x="0" y="0"/>
                </a:lnTo>
                <a:lnTo>
                  <a:pt x="0" y="9524"/>
                </a:lnTo>
                <a:lnTo>
                  <a:pt x="35852" y="9524"/>
                </a:lnTo>
                <a:lnTo>
                  <a:pt x="35852" y="0"/>
                </a:lnTo>
                <a:close/>
              </a:path>
            </a:pathLst>
          </a:custGeom>
          <a:solidFill>
            <a:srgbClr val="F94CA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19125" y="3371849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19125" y="5286374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19125" y="5581649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596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596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28675" y="5734049"/>
            <a:ext cx="4686300" cy="923925"/>
          </a:xfrm>
          <a:custGeom>
            <a:avLst/>
            <a:gdLst/>
            <a:ahLst/>
            <a:cxnLst/>
            <a:rect l="l" t="t" r="r" b="b"/>
            <a:pathLst>
              <a:path w="4686300" h="923925">
                <a:moveTo>
                  <a:pt x="2943225" y="730643"/>
                </a:moveTo>
                <a:lnTo>
                  <a:pt x="2926956" y="714375"/>
                </a:lnTo>
                <a:lnTo>
                  <a:pt x="16256" y="714375"/>
                </a:lnTo>
                <a:lnTo>
                  <a:pt x="0" y="730643"/>
                </a:lnTo>
                <a:lnTo>
                  <a:pt x="0" y="905179"/>
                </a:lnTo>
                <a:lnTo>
                  <a:pt x="0" y="907656"/>
                </a:lnTo>
                <a:lnTo>
                  <a:pt x="16256" y="923925"/>
                </a:lnTo>
                <a:lnTo>
                  <a:pt x="2926956" y="923925"/>
                </a:lnTo>
                <a:lnTo>
                  <a:pt x="2943225" y="907656"/>
                </a:lnTo>
                <a:lnTo>
                  <a:pt x="2943225" y="730643"/>
                </a:lnTo>
                <a:close/>
              </a:path>
              <a:path w="4686300" h="923925">
                <a:moveTo>
                  <a:pt x="4629150" y="16268"/>
                </a:moveTo>
                <a:lnTo>
                  <a:pt x="4612868" y="0"/>
                </a:lnTo>
                <a:lnTo>
                  <a:pt x="16256" y="0"/>
                </a:lnTo>
                <a:lnTo>
                  <a:pt x="0" y="16268"/>
                </a:lnTo>
                <a:lnTo>
                  <a:pt x="0" y="190804"/>
                </a:lnTo>
                <a:lnTo>
                  <a:pt x="0" y="193281"/>
                </a:lnTo>
                <a:lnTo>
                  <a:pt x="16256" y="209550"/>
                </a:lnTo>
                <a:lnTo>
                  <a:pt x="4612868" y="209550"/>
                </a:lnTo>
                <a:lnTo>
                  <a:pt x="4629150" y="193281"/>
                </a:lnTo>
                <a:lnTo>
                  <a:pt x="4629150" y="16268"/>
                </a:lnTo>
                <a:close/>
              </a:path>
              <a:path w="4686300" h="923925">
                <a:moveTo>
                  <a:pt x="4648200" y="492518"/>
                </a:moveTo>
                <a:lnTo>
                  <a:pt x="4631918" y="476250"/>
                </a:lnTo>
                <a:lnTo>
                  <a:pt x="16256" y="476250"/>
                </a:lnTo>
                <a:lnTo>
                  <a:pt x="0" y="492518"/>
                </a:lnTo>
                <a:lnTo>
                  <a:pt x="0" y="667054"/>
                </a:lnTo>
                <a:lnTo>
                  <a:pt x="0" y="669531"/>
                </a:lnTo>
                <a:lnTo>
                  <a:pt x="16256" y="685800"/>
                </a:lnTo>
                <a:lnTo>
                  <a:pt x="4631918" y="685800"/>
                </a:lnTo>
                <a:lnTo>
                  <a:pt x="4648200" y="669531"/>
                </a:lnTo>
                <a:lnTo>
                  <a:pt x="4648200" y="492518"/>
                </a:lnTo>
                <a:close/>
              </a:path>
              <a:path w="4686300" h="923925">
                <a:moveTo>
                  <a:pt x="4686300" y="254393"/>
                </a:moveTo>
                <a:lnTo>
                  <a:pt x="4670018" y="238125"/>
                </a:lnTo>
                <a:lnTo>
                  <a:pt x="16256" y="238125"/>
                </a:lnTo>
                <a:lnTo>
                  <a:pt x="0" y="254393"/>
                </a:lnTo>
                <a:lnTo>
                  <a:pt x="0" y="428929"/>
                </a:lnTo>
                <a:lnTo>
                  <a:pt x="0" y="431406"/>
                </a:lnTo>
                <a:lnTo>
                  <a:pt x="16256" y="447675"/>
                </a:lnTo>
                <a:lnTo>
                  <a:pt x="4670018" y="447675"/>
                </a:lnTo>
                <a:lnTo>
                  <a:pt x="4686300" y="431406"/>
                </a:lnTo>
                <a:lnTo>
                  <a:pt x="4686300" y="254393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87375" y="1672934"/>
            <a:ext cx="4936490" cy="4980305"/>
          </a:xfrm>
          <a:prstGeom prst="rect">
            <a:avLst/>
          </a:prstGeom>
        </p:spPr>
        <p:txBody>
          <a:bodyPr vert="horz" wrap="square" lIns="0" tIns="381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00"/>
              </a:spcBef>
              <a:tabLst>
                <a:tab pos="405130" algn="l"/>
              </a:tabLst>
            </a:pPr>
            <a:r>
              <a:rPr sz="1950" dirty="0">
                <a:latin typeface="Times New Roman"/>
                <a:cs typeface="Times New Roman"/>
              </a:rPr>
              <a:t>	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Requisitos</a:t>
            </a:r>
            <a:r>
              <a:rPr sz="1750" b="1" spc="110" dirty="0">
                <a:solidFill>
                  <a:srgbClr val="F94CAE"/>
                </a:solidFill>
                <a:latin typeface="Trebuchet MS"/>
                <a:cs typeface="Trebuchet MS"/>
              </a:rPr>
              <a:t>  </a:t>
            </a:r>
            <a:r>
              <a:rPr sz="1750" b="1" spc="50" dirty="0">
                <a:solidFill>
                  <a:srgbClr val="F94CAE"/>
                </a:solidFill>
                <a:latin typeface="Trebuchet MS"/>
                <a:cs typeface="Trebuchet MS"/>
              </a:rPr>
              <a:t>Essenciais</a:t>
            </a:r>
            <a:endParaRPr sz="17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  <a:spcBef>
                <a:spcPts val="1575"/>
              </a:spcBef>
            </a:pP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Node.js:</a:t>
            </a:r>
            <a:r>
              <a:rPr sz="1150" b="1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Versão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mais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recente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ambiente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execução.</a:t>
            </a:r>
            <a:endParaRPr sz="11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  <a:spcBef>
                <a:spcPts val="944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Native:</a:t>
            </a:r>
            <a:r>
              <a:rPr sz="1150" b="1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Versão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mais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recente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desenvolvimento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mobile.</a:t>
            </a:r>
            <a:endParaRPr sz="11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  <a:spcBef>
                <a:spcPts val="944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Expo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45" dirty="0">
                <a:solidFill>
                  <a:srgbClr val="DAD1E6"/>
                </a:solidFill>
                <a:latin typeface="Trebuchet MS"/>
                <a:cs typeface="Trebuchet MS"/>
              </a:rPr>
              <a:t>Go:</a:t>
            </a:r>
            <a:r>
              <a:rPr sz="1150" b="1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Aplicativo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mobile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testes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em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tempo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real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(disponível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na</a:t>
            </a:r>
            <a:endParaRPr sz="11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  <a:spcBef>
                <a:spcPts val="495"/>
              </a:spcBef>
            </a:pPr>
            <a:r>
              <a:rPr sz="1150" b="1" u="sng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2"/>
              </a:rPr>
              <a:t>Google</a:t>
            </a:r>
            <a:r>
              <a:rPr sz="1150" b="1" u="sng" spc="-9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2"/>
              </a:rPr>
              <a:t> </a:t>
            </a:r>
            <a:r>
              <a:rPr sz="1150" b="1" u="sng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2"/>
              </a:rPr>
              <a:t>Play</a:t>
            </a:r>
            <a:r>
              <a:rPr sz="1150" b="1" u="sng" spc="7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2"/>
              </a:rPr>
              <a:t> </a:t>
            </a:r>
            <a:r>
              <a:rPr sz="1150" b="1" u="sng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2"/>
              </a:rPr>
              <a:t>Store</a:t>
            </a:r>
            <a:r>
              <a:rPr sz="1150" b="1" spc="-5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-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u="sng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A</a:t>
            </a:r>
            <a:r>
              <a:rPr sz="1150" b="1" dirty="0">
                <a:solidFill>
                  <a:srgbClr val="F94CAE"/>
                </a:solidFill>
                <a:latin typeface="Trebuchet MS"/>
                <a:cs typeface="Trebuchet MS"/>
                <a:hlinkClick r:id="rId3"/>
              </a:rPr>
              <a:t>pp</a:t>
            </a:r>
            <a:r>
              <a:rPr sz="1150" b="1" u="sng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le</a:t>
            </a:r>
            <a:r>
              <a:rPr sz="1150" b="1" u="sng" spc="-85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 </a:t>
            </a:r>
            <a:r>
              <a:rPr sz="1150" b="1" u="sng" spc="-25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A</a:t>
            </a:r>
            <a:r>
              <a:rPr sz="1150" b="1" spc="-25" dirty="0">
                <a:solidFill>
                  <a:srgbClr val="F94CAE"/>
                </a:solidFill>
                <a:latin typeface="Trebuchet MS"/>
                <a:cs typeface="Trebuchet MS"/>
                <a:hlinkClick r:id="rId3"/>
              </a:rPr>
              <a:t>pp</a:t>
            </a:r>
            <a:r>
              <a:rPr sz="1150" b="1" u="sng" spc="325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 </a:t>
            </a:r>
            <a:r>
              <a:rPr sz="1150" b="1" u="sng" spc="-1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3"/>
              </a:rPr>
              <a:t>Store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).</a:t>
            </a:r>
            <a:endParaRPr sz="1150">
              <a:latin typeface="Trebuchet MS"/>
              <a:cs typeface="Trebuchet MS"/>
            </a:endParaRPr>
          </a:p>
          <a:p>
            <a:pPr marL="252095" marR="145415">
              <a:lnSpc>
                <a:spcPct val="135900"/>
              </a:lnSpc>
              <a:spcBef>
                <a:spcPts val="450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Banco</a:t>
            </a:r>
            <a:r>
              <a:rPr sz="1150" b="1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b="1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Dados:</a:t>
            </a:r>
            <a:r>
              <a:rPr sz="1150" b="1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Supabase,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gerenciamento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persistência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dos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dados.</a:t>
            </a:r>
            <a:endParaRPr sz="11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1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tabLst>
                <a:tab pos="405130" algn="l"/>
              </a:tabLst>
            </a:pPr>
            <a:r>
              <a:rPr sz="1950" dirty="0">
                <a:latin typeface="Times New Roman"/>
                <a:cs typeface="Times New Roman"/>
              </a:rPr>
              <a:t>	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Configuração</a:t>
            </a:r>
            <a:r>
              <a:rPr sz="1750" b="1" spc="11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do</a:t>
            </a:r>
            <a:r>
              <a:rPr sz="1750" b="1" spc="11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50" dirty="0">
                <a:solidFill>
                  <a:srgbClr val="F94CAE"/>
                </a:solidFill>
                <a:latin typeface="Trebuchet MS"/>
                <a:cs typeface="Trebuchet MS"/>
              </a:rPr>
              <a:t>Banco</a:t>
            </a:r>
            <a:r>
              <a:rPr sz="1750" b="1" spc="11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de</a:t>
            </a:r>
            <a:r>
              <a:rPr sz="1750" b="1" spc="114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30" dirty="0">
                <a:solidFill>
                  <a:srgbClr val="F94CAE"/>
                </a:solidFill>
                <a:latin typeface="Trebuchet MS"/>
                <a:cs typeface="Trebuchet MS"/>
              </a:rPr>
              <a:t>Dados</a:t>
            </a:r>
            <a:r>
              <a:rPr sz="1750" b="1" spc="11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10" dirty="0">
                <a:solidFill>
                  <a:srgbClr val="F94CAE"/>
                </a:solidFill>
                <a:latin typeface="Trebuchet MS"/>
                <a:cs typeface="Trebuchet MS"/>
              </a:rPr>
              <a:t>Supabase</a:t>
            </a:r>
            <a:endParaRPr sz="1750">
              <a:latin typeface="Trebuchet MS"/>
              <a:cs typeface="Trebuchet MS"/>
            </a:endParaRPr>
          </a:p>
          <a:p>
            <a:pPr marL="12700" marR="565785">
              <a:lnSpc>
                <a:spcPct val="135900"/>
              </a:lnSpc>
              <a:spcBef>
                <a:spcPts val="108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VaiJunto?</a:t>
            </a:r>
            <a:r>
              <a:rPr sz="1150" b="1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utiliza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Supabase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armazenamento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dados,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garantindo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escalabilidade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segurança.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É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crucial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configurar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corretamente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acesso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ao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banco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que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aplicativo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funcione.</a:t>
            </a:r>
            <a:endParaRPr sz="115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11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</a:pPr>
            <a:r>
              <a:rPr sz="1150" b="1" spc="-35" dirty="0">
                <a:solidFill>
                  <a:srgbClr val="DAD1E6"/>
                </a:solidFill>
                <a:latin typeface="Trebuchet MS"/>
                <a:cs typeface="Trebuchet MS"/>
              </a:rPr>
              <a:t>DATABASE_URL:</a:t>
            </a:r>
            <a:r>
              <a:rPr sz="1150" b="1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u="sng" spc="-2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4"/>
              </a:rPr>
              <a:t>https://qcmlftwkovma</a:t>
            </a:r>
            <a:r>
              <a:rPr sz="1150" b="1" spc="-20" dirty="0">
                <a:solidFill>
                  <a:srgbClr val="F94CAE"/>
                </a:solidFill>
                <a:latin typeface="Trebuchet MS"/>
                <a:cs typeface="Trebuchet MS"/>
                <a:hlinkClick r:id="rId4"/>
              </a:rPr>
              <a:t>j</a:t>
            </a:r>
            <a:r>
              <a:rPr sz="1150" b="1" u="sng" spc="-2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4"/>
              </a:rPr>
              <a:t>wt</a:t>
            </a:r>
            <a:r>
              <a:rPr sz="1150" b="1" spc="-20" dirty="0">
                <a:solidFill>
                  <a:srgbClr val="F94CAE"/>
                </a:solidFill>
                <a:latin typeface="Trebuchet MS"/>
                <a:cs typeface="Trebuchet MS"/>
                <a:hlinkClick r:id="rId4"/>
              </a:rPr>
              <a:t>lj</a:t>
            </a:r>
            <a:r>
              <a:rPr sz="1150" b="1" u="sng" spc="-2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4"/>
              </a:rPr>
              <a:t>auv.sup</a:t>
            </a:r>
            <a:r>
              <a:rPr sz="1150" b="1" u="sng" spc="85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4"/>
              </a:rPr>
              <a:t> </a:t>
            </a:r>
            <a:r>
              <a:rPr sz="1150" b="1" u="sng" spc="-10" dirty="0">
                <a:solidFill>
                  <a:srgbClr val="F94CAE"/>
                </a:solidFill>
                <a:uFill>
                  <a:solidFill>
                    <a:srgbClr val="F94CAE"/>
                  </a:solidFill>
                </a:uFill>
                <a:latin typeface="Trebuchet MS"/>
                <a:cs typeface="Trebuchet MS"/>
                <a:hlinkClick r:id="rId4"/>
              </a:rPr>
              <a:t>abase.co</a:t>
            </a:r>
            <a:endParaRPr sz="1150">
              <a:latin typeface="Trebuchet MS"/>
              <a:cs typeface="Trebuchet MS"/>
            </a:endParaRPr>
          </a:p>
          <a:p>
            <a:pPr marL="252095">
              <a:lnSpc>
                <a:spcPct val="100000"/>
              </a:lnSpc>
              <a:spcBef>
                <a:spcPts val="944"/>
              </a:spcBef>
            </a:pP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DATABASE_KEY:</a:t>
            </a:r>
            <a:endParaRPr sz="1150">
              <a:latin typeface="Trebuchet MS"/>
              <a:cs typeface="Trebuchet MS"/>
            </a:endParaRPr>
          </a:p>
          <a:p>
            <a:pPr marL="252095" marR="5080">
              <a:lnSpc>
                <a:spcPct val="135900"/>
              </a:lnSpc>
            </a:pP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eyJhbGciOiJIUzI1NiIsInR5cCI6IkpXVCJ9.eyJpc3MiOiJzdXBhYmFzZSIsI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nJlZiI6InFjbWxmdHdrb3ZtYWp3dGxqYXV2Iiwicm9sZSI6ImFub24iLCJ 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pYXQiOjE3NjA2MjQ0MzgsImV4cCI6MjA3NjIwMDQzOH0.pQUnYLfG </a:t>
            </a:r>
            <a:r>
              <a:rPr sz="1150" spc="-75" dirty="0">
                <a:solidFill>
                  <a:srgbClr val="DAD1E6"/>
                </a:solidFill>
                <a:latin typeface="Lucida Sans Unicode"/>
                <a:cs typeface="Lucida Sans Unicode"/>
              </a:rPr>
              <a:t>gvTAQFXr5Y-</a:t>
            </a:r>
            <a:r>
              <a:rPr sz="1150" spc="-80" dirty="0">
                <a:solidFill>
                  <a:srgbClr val="DAD1E6"/>
                </a:solidFill>
                <a:latin typeface="Lucida Sans Unicode"/>
                <a:cs typeface="Lucida Sans Unicode"/>
              </a:rPr>
              <a:t>d8-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jsFHFNt3Eoknz1d3P6qQw</a:t>
            </a:r>
            <a:endParaRPr sz="1150">
              <a:latin typeface="Lucida Sans Unicode"/>
              <a:cs typeface="Lucida Sans Unicod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87366" y="6770528"/>
            <a:ext cx="4886325" cy="501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>
              <a:lnSpc>
                <a:spcPct val="135900"/>
              </a:lnSpc>
              <a:spcBef>
                <a:spcPts val="90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Certifique-se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que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tabela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'usuários'</a:t>
            </a:r>
            <a:r>
              <a:rPr sz="1150" b="1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esteja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configurada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conforme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os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campos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especificados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correto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funcionamento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aplicativo.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905500" y="1743074"/>
            <a:ext cx="4933949" cy="4933949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5894730" y="6818146"/>
            <a:ext cx="4878705" cy="138811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405130" algn="l"/>
              </a:tabLst>
            </a:pPr>
            <a:r>
              <a:rPr sz="1750" spc="-1265" dirty="0">
                <a:latin typeface="Times New Roman"/>
                <a:cs typeface="Times New Roman"/>
              </a:rPr>
              <a:t>G</a:t>
            </a:r>
            <a:r>
              <a:rPr sz="1750" dirty="0">
                <a:latin typeface="Times New Roman"/>
                <a:cs typeface="Times New Roman"/>
              </a:rPr>
              <a:t>	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Tabela</a:t>
            </a:r>
            <a:r>
              <a:rPr sz="1750" b="1" spc="19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120" dirty="0">
                <a:solidFill>
                  <a:srgbClr val="F94CAE"/>
                </a:solidFill>
                <a:latin typeface="Trebuchet MS"/>
                <a:cs typeface="Trebuchet MS"/>
              </a:rPr>
              <a:t>'usuários'</a:t>
            </a:r>
            <a:r>
              <a:rPr sz="1750" b="1" spc="19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no</a:t>
            </a:r>
            <a:r>
              <a:rPr sz="1750" b="1" spc="20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10" dirty="0">
                <a:solidFill>
                  <a:srgbClr val="F94CAE"/>
                </a:solidFill>
                <a:latin typeface="Trebuchet MS"/>
                <a:cs typeface="Trebuchet MS"/>
              </a:rPr>
              <a:t>Supabase</a:t>
            </a:r>
            <a:endParaRPr sz="1750">
              <a:latin typeface="Trebuchet MS"/>
              <a:cs typeface="Trebuchet MS"/>
            </a:endParaRPr>
          </a:p>
          <a:p>
            <a:pPr marL="12700" marR="5080">
              <a:lnSpc>
                <a:spcPct val="135900"/>
              </a:lnSpc>
              <a:spcBef>
                <a:spcPts val="1080"/>
              </a:spcBef>
            </a:pP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estrutura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da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tabela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10" dirty="0">
                <a:solidFill>
                  <a:srgbClr val="DAD1E6"/>
                </a:solidFill>
                <a:latin typeface="Trebuchet MS"/>
                <a:cs typeface="Trebuchet MS"/>
              </a:rPr>
              <a:t>usuários</a:t>
            </a:r>
            <a:r>
              <a:rPr sz="1150" b="1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é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fundamental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registro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50" dirty="0">
                <a:solidFill>
                  <a:srgbClr val="DAD1E6"/>
                </a:solidFill>
                <a:latin typeface="Trebuchet MS"/>
                <a:cs typeface="Trebuchet MS"/>
              </a:rPr>
              <a:t>e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gerenciamento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dos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perfis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dos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estudantes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na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plataforma.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Ela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contém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os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campos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essenciais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identificação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autenticação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cada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usuário,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bem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como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informações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cruciais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funcionalidade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8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caronas.</a:t>
            </a:r>
            <a:endParaRPr sz="1150">
              <a:latin typeface="Trebuchet MS"/>
              <a:cs typeface="Trebuchet MS"/>
            </a:endParaRPr>
          </a:p>
        </p:txBody>
      </p:sp>
      <p:pic>
        <p:nvPicPr>
          <p:cNvPr id="17" name="object 17">
            <a:hlinkClick r:id="rId6"/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9580244" y="10370057"/>
            <a:ext cx="1754504" cy="41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87375" y="383825"/>
            <a:ext cx="8273415" cy="475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011805" algn="l"/>
                <a:tab pos="3386454" algn="l"/>
                <a:tab pos="5448300" algn="l"/>
                <a:tab pos="6010910" algn="l"/>
              </a:tabLst>
            </a:pPr>
            <a:r>
              <a:rPr spc="-10" dirty="0"/>
              <a:t>Funcionalidades</a:t>
            </a:r>
            <a:r>
              <a:rPr dirty="0"/>
              <a:t>	</a:t>
            </a:r>
            <a:r>
              <a:rPr spc="-50" dirty="0"/>
              <a:t>e</a:t>
            </a:r>
            <a:r>
              <a:rPr dirty="0"/>
              <a:t>	</a:t>
            </a:r>
            <a:r>
              <a:rPr spc="70" dirty="0"/>
              <a:t>Instalação</a:t>
            </a:r>
            <a:r>
              <a:rPr dirty="0"/>
              <a:t>	</a:t>
            </a:r>
            <a:r>
              <a:rPr spc="-25" dirty="0"/>
              <a:t>de</a:t>
            </a:r>
            <a:r>
              <a:rPr dirty="0"/>
              <a:t>	</a:t>
            </a:r>
            <a:r>
              <a:rPr spc="-120" dirty="0"/>
              <a:t>Dependências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7375" y="1229169"/>
            <a:ext cx="4410710" cy="2959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50" b="1" spc="75" dirty="0">
                <a:solidFill>
                  <a:srgbClr val="F94CAE"/>
                </a:solidFill>
                <a:latin typeface="Trebuchet MS"/>
                <a:cs typeface="Trebuchet MS"/>
              </a:rPr>
              <a:t>Principais</a:t>
            </a:r>
            <a:r>
              <a:rPr sz="1750" b="1" spc="25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Funcionalidades</a:t>
            </a:r>
            <a:r>
              <a:rPr sz="1750" b="1" spc="254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do</a:t>
            </a:r>
            <a:r>
              <a:rPr sz="1750" b="1" spc="254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10" dirty="0">
                <a:solidFill>
                  <a:srgbClr val="F94CAE"/>
                </a:solidFill>
                <a:latin typeface="Trebuchet MS"/>
                <a:cs typeface="Trebuchet MS"/>
              </a:rPr>
              <a:t>VaiJunto?</a:t>
            </a:r>
            <a:endParaRPr sz="1750">
              <a:latin typeface="Trebuchet MS"/>
              <a:cs typeface="Trebuchet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19125" y="178117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9125" y="255270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19125" y="308610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27285" y="1636553"/>
            <a:ext cx="4674235" cy="20542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74295">
              <a:lnSpc>
                <a:spcPct val="138600"/>
              </a:lnSpc>
              <a:spcBef>
                <a:spcPts val="55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Buscar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Carona:</a:t>
            </a:r>
            <a:r>
              <a:rPr sz="1150" b="1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Permite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aos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usuários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pesquisar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caronas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disponíveis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com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base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em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localização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horário,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facilitando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o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encontro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rotas compatíveis.</a:t>
            </a:r>
            <a:endParaRPr sz="1150">
              <a:latin typeface="Trebuchet MS"/>
              <a:cs typeface="Trebuchet MS"/>
            </a:endParaRPr>
          </a:p>
          <a:p>
            <a:pPr marL="12700" marR="5080">
              <a:lnSpc>
                <a:spcPct val="135900"/>
              </a:lnSpc>
              <a:spcBef>
                <a:spcPts val="375"/>
              </a:spcBef>
            </a:pP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Oferecer</a:t>
            </a:r>
            <a:r>
              <a:rPr sz="1150" b="1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Carona:</a:t>
            </a:r>
            <a:r>
              <a:rPr sz="1150" b="1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Motoristas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podem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registrar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suas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rotas,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horários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o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número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vagas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disponíveis,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conectando-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se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com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passageiros.</a:t>
            </a:r>
            <a:endParaRPr sz="1150">
              <a:latin typeface="Trebuchet MS"/>
              <a:cs typeface="Trebuchet MS"/>
            </a:endParaRPr>
          </a:p>
          <a:p>
            <a:pPr marL="12700" marR="505459">
              <a:lnSpc>
                <a:spcPct val="138600"/>
              </a:lnSpc>
              <a:spcBef>
                <a:spcPts val="409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Seleção</a:t>
            </a:r>
            <a:r>
              <a:rPr sz="1150" b="1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Vagas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Disponíveis: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Uma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interface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intuitiva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o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motorista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definir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facilmente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quantidade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assentos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livres,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otimizando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ocupação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veículo.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375" y="3829494"/>
            <a:ext cx="3961129" cy="29591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50" b="1" spc="-45" dirty="0">
                <a:solidFill>
                  <a:srgbClr val="F94CAE"/>
                </a:solidFill>
                <a:latin typeface="Trebuchet MS"/>
                <a:cs typeface="Trebuchet MS"/>
              </a:rPr>
              <a:t>Ferramentas</a:t>
            </a:r>
            <a:r>
              <a:rPr sz="1750" b="1" spc="15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e</a:t>
            </a:r>
            <a:r>
              <a:rPr sz="1750" b="1" spc="15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Linguagens</a:t>
            </a:r>
            <a:r>
              <a:rPr sz="1750" b="1" spc="150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65" dirty="0">
                <a:solidFill>
                  <a:srgbClr val="F94CAE"/>
                </a:solidFill>
                <a:latin typeface="Trebuchet MS"/>
                <a:cs typeface="Trebuchet MS"/>
              </a:rPr>
              <a:t>Utilizadas</a:t>
            </a:r>
            <a:endParaRPr sz="1750">
              <a:latin typeface="Trebuchet MS"/>
              <a:cs typeface="Trebuchet M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19125" y="43910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19125" y="49244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19125" y="521017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619125" y="550545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19125" y="58007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19125" y="63341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26972" y="0"/>
                </a:moveTo>
                <a:lnTo>
                  <a:pt x="20652" y="0"/>
                </a:lnTo>
                <a:lnTo>
                  <a:pt x="17616" y="609"/>
                </a:lnTo>
                <a:lnTo>
                  <a:pt x="0" y="20650"/>
                </a:lnTo>
                <a:lnTo>
                  <a:pt x="0" y="26974"/>
                </a:lnTo>
                <a:lnTo>
                  <a:pt x="20652" y="47625"/>
                </a:lnTo>
                <a:lnTo>
                  <a:pt x="26972" y="47625"/>
                </a:lnTo>
                <a:lnTo>
                  <a:pt x="47625" y="26974"/>
                </a:lnTo>
                <a:lnTo>
                  <a:pt x="47625" y="23812"/>
                </a:lnTo>
                <a:lnTo>
                  <a:pt x="47625" y="20650"/>
                </a:lnTo>
                <a:lnTo>
                  <a:pt x="30008" y="609"/>
                </a:lnTo>
                <a:lnTo>
                  <a:pt x="26972" y="0"/>
                </a:lnTo>
                <a:close/>
              </a:path>
            </a:pathLst>
          </a:custGeom>
          <a:solidFill>
            <a:srgbClr val="DAD1E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26987" y="4246403"/>
            <a:ext cx="4657725" cy="24447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840740">
              <a:lnSpc>
                <a:spcPct val="135900"/>
              </a:lnSpc>
              <a:spcBef>
                <a:spcPts val="90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Native:</a:t>
            </a:r>
            <a:r>
              <a:rPr sz="1150" b="1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Framework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robusto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desenvolvimento multiplataforma.</a:t>
            </a:r>
            <a:endParaRPr sz="11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944"/>
              </a:spcBef>
            </a:pP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Expo:</a:t>
            </a:r>
            <a:r>
              <a:rPr sz="1150" b="1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Simplifica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desenvolvimento,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testes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deploy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spc="8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aplicativo.</a:t>
            </a:r>
            <a:endParaRPr sz="11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869"/>
              </a:spcBef>
            </a:pP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JavaScript:</a:t>
            </a:r>
            <a:r>
              <a:rPr sz="1150" b="1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Linguagem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principal</a:t>
            </a:r>
            <a:r>
              <a:rPr sz="1150" spc="10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1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programação.</a:t>
            </a:r>
            <a:endParaRPr sz="115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944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Navigation:</a:t>
            </a:r>
            <a:r>
              <a:rPr sz="1150" b="1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Gerenciamento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rotas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navegação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entre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telas.</a:t>
            </a:r>
            <a:endParaRPr sz="1150">
              <a:latin typeface="Trebuchet MS"/>
              <a:cs typeface="Trebuchet MS"/>
            </a:endParaRPr>
          </a:p>
          <a:p>
            <a:pPr marL="12700" marR="5080">
              <a:lnSpc>
                <a:spcPct val="135900"/>
              </a:lnSpc>
              <a:spcBef>
                <a:spcPts val="450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@react-native-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picker/picker:</a:t>
            </a:r>
            <a:r>
              <a:rPr sz="1150" b="1" spc="1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Componente</a:t>
            </a:r>
            <a:r>
              <a:rPr sz="1150" spc="1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1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seleções</a:t>
            </a:r>
            <a:r>
              <a:rPr sz="1150" spc="1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interativas (dropdowns).</a:t>
            </a:r>
            <a:endParaRPr sz="1150">
              <a:latin typeface="Trebuchet MS"/>
              <a:cs typeface="Trebuchet MS"/>
            </a:endParaRPr>
          </a:p>
          <a:p>
            <a:pPr marL="12700" marR="460375">
              <a:lnSpc>
                <a:spcPct val="135900"/>
              </a:lnSpc>
              <a:spcBef>
                <a:spcPts val="450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Native</a:t>
            </a:r>
            <a:r>
              <a:rPr sz="1150" b="1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Calendars:</a:t>
            </a:r>
            <a:r>
              <a:rPr sz="1150" b="1" spc="9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funcionalidades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calendário</a:t>
            </a:r>
            <a:r>
              <a:rPr sz="1150" spc="9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50" dirty="0">
                <a:solidFill>
                  <a:srgbClr val="DAD1E6"/>
                </a:solidFill>
                <a:latin typeface="Trebuchet MS"/>
                <a:cs typeface="Trebuchet MS"/>
              </a:rPr>
              <a:t>e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seleção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10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datas.</a:t>
            </a:r>
            <a:endParaRPr sz="1150">
              <a:latin typeface="Trebuchet MS"/>
              <a:cs typeface="Trebuchet M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9210675" y="2314575"/>
            <a:ext cx="1543050" cy="209550"/>
          </a:xfrm>
          <a:custGeom>
            <a:avLst/>
            <a:gdLst/>
            <a:ahLst/>
            <a:cxnLst/>
            <a:rect l="l" t="t" r="r" b="b"/>
            <a:pathLst>
              <a:path w="1543050" h="209550">
                <a:moveTo>
                  <a:pt x="152678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1526781" y="209550"/>
                </a:lnTo>
                <a:lnTo>
                  <a:pt x="1543050" y="193281"/>
                </a:lnTo>
                <a:lnTo>
                  <a:pt x="1543050" y="16268"/>
                </a:lnTo>
                <a:lnTo>
                  <a:pt x="1529168" y="469"/>
                </a:lnTo>
                <a:lnTo>
                  <a:pt x="152678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953625" y="2847975"/>
            <a:ext cx="790575" cy="209550"/>
          </a:xfrm>
          <a:custGeom>
            <a:avLst/>
            <a:gdLst/>
            <a:ahLst/>
            <a:cxnLst/>
            <a:rect l="l" t="t" r="r" b="b"/>
            <a:pathLst>
              <a:path w="790575" h="209550">
                <a:moveTo>
                  <a:pt x="774306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774306" y="209550"/>
                </a:lnTo>
                <a:lnTo>
                  <a:pt x="790575" y="193281"/>
                </a:lnTo>
                <a:lnTo>
                  <a:pt x="790575" y="16268"/>
                </a:lnTo>
                <a:lnTo>
                  <a:pt x="776693" y="469"/>
                </a:lnTo>
                <a:lnTo>
                  <a:pt x="774306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162675" y="3752850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610475" y="3667125"/>
            <a:ext cx="2571750" cy="209550"/>
          </a:xfrm>
          <a:custGeom>
            <a:avLst/>
            <a:gdLst/>
            <a:ahLst/>
            <a:cxnLst/>
            <a:rect l="l" t="t" r="r" b="b"/>
            <a:pathLst>
              <a:path w="2571750" h="209550">
                <a:moveTo>
                  <a:pt x="255548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2555481" y="209550"/>
                </a:lnTo>
                <a:lnTo>
                  <a:pt x="2571750" y="193281"/>
                </a:lnTo>
                <a:lnTo>
                  <a:pt x="2571750" y="16268"/>
                </a:lnTo>
                <a:lnTo>
                  <a:pt x="2557868" y="469"/>
                </a:lnTo>
                <a:lnTo>
                  <a:pt x="255548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162675" y="40481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381750" y="3962400"/>
            <a:ext cx="4105275" cy="447675"/>
          </a:xfrm>
          <a:custGeom>
            <a:avLst/>
            <a:gdLst/>
            <a:ahLst/>
            <a:cxnLst/>
            <a:rect l="l" t="t" r="r" b="b"/>
            <a:pathLst>
              <a:path w="4105275" h="447675">
                <a:moveTo>
                  <a:pt x="3162300" y="254393"/>
                </a:moveTo>
                <a:lnTo>
                  <a:pt x="3146031" y="238125"/>
                </a:lnTo>
                <a:lnTo>
                  <a:pt x="16268" y="238125"/>
                </a:lnTo>
                <a:lnTo>
                  <a:pt x="0" y="254393"/>
                </a:lnTo>
                <a:lnTo>
                  <a:pt x="0" y="428917"/>
                </a:lnTo>
                <a:lnTo>
                  <a:pt x="0" y="431406"/>
                </a:lnTo>
                <a:lnTo>
                  <a:pt x="16268" y="447675"/>
                </a:lnTo>
                <a:lnTo>
                  <a:pt x="3146031" y="447675"/>
                </a:lnTo>
                <a:lnTo>
                  <a:pt x="3162300" y="431406"/>
                </a:lnTo>
                <a:lnTo>
                  <a:pt x="3162300" y="254393"/>
                </a:lnTo>
                <a:close/>
              </a:path>
              <a:path w="4105275" h="447675">
                <a:moveTo>
                  <a:pt x="4105275" y="16268"/>
                </a:moveTo>
                <a:lnTo>
                  <a:pt x="4089006" y="0"/>
                </a:lnTo>
                <a:lnTo>
                  <a:pt x="2892818" y="0"/>
                </a:lnTo>
                <a:lnTo>
                  <a:pt x="2876550" y="16268"/>
                </a:lnTo>
                <a:lnTo>
                  <a:pt x="2876550" y="190792"/>
                </a:lnTo>
                <a:lnTo>
                  <a:pt x="2876550" y="193281"/>
                </a:lnTo>
                <a:lnTo>
                  <a:pt x="2892818" y="209550"/>
                </a:lnTo>
                <a:lnTo>
                  <a:pt x="4089006" y="209550"/>
                </a:lnTo>
                <a:lnTo>
                  <a:pt x="4105275" y="193281"/>
                </a:lnTo>
                <a:lnTo>
                  <a:pt x="4105275" y="16268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162675" y="45815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6886575" y="4495800"/>
            <a:ext cx="2743200" cy="209550"/>
          </a:xfrm>
          <a:custGeom>
            <a:avLst/>
            <a:gdLst/>
            <a:ahLst/>
            <a:cxnLst/>
            <a:rect l="l" t="t" r="r" b="b"/>
            <a:pathLst>
              <a:path w="2743200" h="209550">
                <a:moveTo>
                  <a:pt x="272693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2726931" y="209550"/>
                </a:lnTo>
                <a:lnTo>
                  <a:pt x="2743200" y="193281"/>
                </a:lnTo>
                <a:lnTo>
                  <a:pt x="2743200" y="16268"/>
                </a:lnTo>
                <a:lnTo>
                  <a:pt x="2729318" y="469"/>
                </a:lnTo>
                <a:lnTo>
                  <a:pt x="272693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6162675" y="486727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8029575" y="4781550"/>
            <a:ext cx="2390775" cy="209550"/>
          </a:xfrm>
          <a:custGeom>
            <a:avLst/>
            <a:gdLst/>
            <a:ahLst/>
            <a:cxnLst/>
            <a:rect l="l" t="t" r="r" b="b"/>
            <a:pathLst>
              <a:path w="2390775" h="209550">
                <a:moveTo>
                  <a:pt x="2374506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2374506" y="209550"/>
                </a:lnTo>
                <a:lnTo>
                  <a:pt x="2390775" y="193281"/>
                </a:lnTo>
                <a:lnTo>
                  <a:pt x="2390775" y="16268"/>
                </a:lnTo>
                <a:lnTo>
                  <a:pt x="2376893" y="469"/>
                </a:lnTo>
                <a:lnTo>
                  <a:pt x="2374506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9477375" y="5076825"/>
            <a:ext cx="1152525" cy="209550"/>
          </a:xfrm>
          <a:custGeom>
            <a:avLst/>
            <a:gdLst/>
            <a:ahLst/>
            <a:cxnLst/>
            <a:rect l="l" t="t" r="r" b="b"/>
            <a:pathLst>
              <a:path w="1152525" h="209550">
                <a:moveTo>
                  <a:pt x="1136256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1136256" y="209550"/>
                </a:lnTo>
                <a:lnTo>
                  <a:pt x="1152525" y="193281"/>
                </a:lnTo>
                <a:lnTo>
                  <a:pt x="1152525" y="16268"/>
                </a:lnTo>
                <a:lnTo>
                  <a:pt x="1138643" y="469"/>
                </a:lnTo>
                <a:lnTo>
                  <a:pt x="1136256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162675" y="545782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8143875" y="5372100"/>
            <a:ext cx="1466850" cy="209550"/>
          </a:xfrm>
          <a:custGeom>
            <a:avLst/>
            <a:gdLst/>
            <a:ahLst/>
            <a:cxnLst/>
            <a:rect l="l" t="t" r="r" b="b"/>
            <a:pathLst>
              <a:path w="1466850" h="209550">
                <a:moveTo>
                  <a:pt x="145058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1450581" y="209550"/>
                </a:lnTo>
                <a:lnTo>
                  <a:pt x="1466850" y="193281"/>
                </a:lnTo>
                <a:lnTo>
                  <a:pt x="1466850" y="16268"/>
                </a:lnTo>
                <a:lnTo>
                  <a:pt x="1452968" y="469"/>
                </a:lnTo>
                <a:lnTo>
                  <a:pt x="145058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162675" y="574357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6972" y="6972"/>
                </a:lnTo>
                <a:lnTo>
                  <a:pt x="9207" y="4737"/>
                </a:lnTo>
                <a:lnTo>
                  <a:pt x="11785" y="3022"/>
                </a:lnTo>
                <a:lnTo>
                  <a:pt x="14693" y="1803"/>
                </a:lnTo>
                <a:lnTo>
                  <a:pt x="17614" y="609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0652" y="6972"/>
                </a:lnTo>
                <a:lnTo>
                  <a:pt x="42887" y="9207"/>
                </a:lnTo>
                <a:lnTo>
                  <a:pt x="44602" y="11785"/>
                </a:lnTo>
                <a:lnTo>
                  <a:pt x="45808" y="14693"/>
                </a:lnTo>
                <a:lnTo>
                  <a:pt x="47015" y="17614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6381750" y="5657850"/>
            <a:ext cx="3171825" cy="457200"/>
          </a:xfrm>
          <a:custGeom>
            <a:avLst/>
            <a:gdLst/>
            <a:ahLst/>
            <a:cxnLst/>
            <a:rect l="l" t="t" r="r" b="b"/>
            <a:pathLst>
              <a:path w="3171825" h="457200">
                <a:moveTo>
                  <a:pt x="1724025" y="263918"/>
                </a:moveTo>
                <a:lnTo>
                  <a:pt x="1707756" y="247650"/>
                </a:lnTo>
                <a:lnTo>
                  <a:pt x="16268" y="247650"/>
                </a:lnTo>
                <a:lnTo>
                  <a:pt x="0" y="263918"/>
                </a:lnTo>
                <a:lnTo>
                  <a:pt x="0" y="438442"/>
                </a:lnTo>
                <a:lnTo>
                  <a:pt x="0" y="440931"/>
                </a:lnTo>
                <a:lnTo>
                  <a:pt x="16268" y="457200"/>
                </a:lnTo>
                <a:lnTo>
                  <a:pt x="1707756" y="457200"/>
                </a:lnTo>
                <a:lnTo>
                  <a:pt x="1724025" y="440931"/>
                </a:lnTo>
                <a:lnTo>
                  <a:pt x="1724025" y="263918"/>
                </a:lnTo>
                <a:close/>
              </a:path>
              <a:path w="3171825" h="457200">
                <a:moveTo>
                  <a:pt x="3171825" y="16281"/>
                </a:moveTo>
                <a:lnTo>
                  <a:pt x="3155556" y="0"/>
                </a:lnTo>
                <a:lnTo>
                  <a:pt x="1721243" y="0"/>
                </a:lnTo>
                <a:lnTo>
                  <a:pt x="1704975" y="16281"/>
                </a:lnTo>
                <a:lnTo>
                  <a:pt x="1704975" y="190792"/>
                </a:lnTo>
                <a:lnTo>
                  <a:pt x="1704975" y="193281"/>
                </a:lnTo>
                <a:lnTo>
                  <a:pt x="1721243" y="209550"/>
                </a:lnTo>
                <a:lnTo>
                  <a:pt x="3155556" y="209550"/>
                </a:lnTo>
                <a:lnTo>
                  <a:pt x="3171825" y="193281"/>
                </a:lnTo>
                <a:lnTo>
                  <a:pt x="3171825" y="16281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162675" y="6276975"/>
            <a:ext cx="47625" cy="47625"/>
          </a:xfrm>
          <a:custGeom>
            <a:avLst/>
            <a:gdLst/>
            <a:ahLst/>
            <a:cxnLst/>
            <a:rect l="l" t="t" r="r" b="b"/>
            <a:pathLst>
              <a:path w="47625" h="47625">
                <a:moveTo>
                  <a:pt x="47625" y="23812"/>
                </a:moveTo>
                <a:lnTo>
                  <a:pt x="47625" y="26974"/>
                </a:lnTo>
                <a:lnTo>
                  <a:pt x="47015" y="30010"/>
                </a:lnTo>
                <a:lnTo>
                  <a:pt x="45808" y="32918"/>
                </a:lnTo>
                <a:lnTo>
                  <a:pt x="44602" y="35839"/>
                </a:lnTo>
                <a:lnTo>
                  <a:pt x="26962" y="47625"/>
                </a:lnTo>
                <a:lnTo>
                  <a:pt x="23812" y="47625"/>
                </a:lnTo>
                <a:lnTo>
                  <a:pt x="20650" y="47625"/>
                </a:lnTo>
                <a:lnTo>
                  <a:pt x="1816" y="32918"/>
                </a:lnTo>
                <a:lnTo>
                  <a:pt x="609" y="30010"/>
                </a:lnTo>
                <a:lnTo>
                  <a:pt x="0" y="26974"/>
                </a:lnTo>
                <a:lnTo>
                  <a:pt x="0" y="23812"/>
                </a:lnTo>
                <a:lnTo>
                  <a:pt x="0" y="20650"/>
                </a:lnTo>
                <a:lnTo>
                  <a:pt x="20650" y="0"/>
                </a:lnTo>
                <a:lnTo>
                  <a:pt x="23812" y="0"/>
                </a:lnTo>
                <a:lnTo>
                  <a:pt x="26962" y="0"/>
                </a:lnTo>
                <a:lnTo>
                  <a:pt x="47625" y="20650"/>
                </a:lnTo>
                <a:lnTo>
                  <a:pt x="47625" y="23812"/>
                </a:lnTo>
                <a:close/>
              </a:path>
            </a:pathLst>
          </a:custGeom>
          <a:ln w="9525">
            <a:solidFill>
              <a:srgbClr val="DAD1E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8096250" y="6191250"/>
            <a:ext cx="2057400" cy="209550"/>
          </a:xfrm>
          <a:custGeom>
            <a:avLst/>
            <a:gdLst/>
            <a:ahLst/>
            <a:cxnLst/>
            <a:rect l="l" t="t" r="r" b="b"/>
            <a:pathLst>
              <a:path w="2057400" h="209550">
                <a:moveTo>
                  <a:pt x="204113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2041131" y="209550"/>
                </a:lnTo>
                <a:lnTo>
                  <a:pt x="2057400" y="193281"/>
                </a:lnTo>
                <a:lnTo>
                  <a:pt x="2057400" y="16268"/>
                </a:lnTo>
                <a:lnTo>
                  <a:pt x="2043518" y="469"/>
                </a:lnTo>
                <a:lnTo>
                  <a:pt x="204113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8048625" y="6486525"/>
            <a:ext cx="1028700" cy="209550"/>
          </a:xfrm>
          <a:custGeom>
            <a:avLst/>
            <a:gdLst/>
            <a:ahLst/>
            <a:cxnLst/>
            <a:rect l="l" t="t" r="r" b="b"/>
            <a:pathLst>
              <a:path w="1028700" h="209550">
                <a:moveTo>
                  <a:pt x="1012431" y="0"/>
                </a:moveTo>
                <a:lnTo>
                  <a:pt x="16268" y="0"/>
                </a:lnTo>
                <a:lnTo>
                  <a:pt x="13868" y="469"/>
                </a:lnTo>
                <a:lnTo>
                  <a:pt x="0" y="16268"/>
                </a:lnTo>
                <a:lnTo>
                  <a:pt x="0" y="190792"/>
                </a:lnTo>
                <a:lnTo>
                  <a:pt x="0" y="193281"/>
                </a:lnTo>
                <a:lnTo>
                  <a:pt x="16268" y="209550"/>
                </a:lnTo>
                <a:lnTo>
                  <a:pt x="1012431" y="209550"/>
                </a:lnTo>
                <a:lnTo>
                  <a:pt x="1028700" y="193281"/>
                </a:lnTo>
                <a:lnTo>
                  <a:pt x="1028700" y="16268"/>
                </a:lnTo>
                <a:lnTo>
                  <a:pt x="1014818" y="469"/>
                </a:lnTo>
                <a:lnTo>
                  <a:pt x="101243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8810625" y="7258049"/>
            <a:ext cx="1352550" cy="209550"/>
          </a:xfrm>
          <a:custGeom>
            <a:avLst/>
            <a:gdLst/>
            <a:ahLst/>
            <a:cxnLst/>
            <a:rect l="l" t="t" r="r" b="b"/>
            <a:pathLst>
              <a:path w="1352550" h="209550">
                <a:moveTo>
                  <a:pt x="1336281" y="0"/>
                </a:moveTo>
                <a:lnTo>
                  <a:pt x="16268" y="0"/>
                </a:lnTo>
                <a:lnTo>
                  <a:pt x="13868" y="476"/>
                </a:lnTo>
                <a:lnTo>
                  <a:pt x="0" y="16267"/>
                </a:lnTo>
                <a:lnTo>
                  <a:pt x="0" y="190798"/>
                </a:lnTo>
                <a:lnTo>
                  <a:pt x="0" y="193283"/>
                </a:lnTo>
                <a:lnTo>
                  <a:pt x="16268" y="209550"/>
                </a:lnTo>
                <a:lnTo>
                  <a:pt x="1336281" y="209550"/>
                </a:lnTo>
                <a:lnTo>
                  <a:pt x="1352550" y="193283"/>
                </a:lnTo>
                <a:lnTo>
                  <a:pt x="1352550" y="16267"/>
                </a:lnTo>
                <a:lnTo>
                  <a:pt x="1338668" y="476"/>
                </a:lnTo>
                <a:lnTo>
                  <a:pt x="133628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6143625" y="7496174"/>
            <a:ext cx="1809750" cy="209550"/>
          </a:xfrm>
          <a:custGeom>
            <a:avLst/>
            <a:gdLst/>
            <a:ahLst/>
            <a:cxnLst/>
            <a:rect l="l" t="t" r="r" b="b"/>
            <a:pathLst>
              <a:path w="1809750" h="209550">
                <a:moveTo>
                  <a:pt x="1793481" y="0"/>
                </a:moveTo>
                <a:lnTo>
                  <a:pt x="16268" y="0"/>
                </a:lnTo>
                <a:lnTo>
                  <a:pt x="13868" y="476"/>
                </a:lnTo>
                <a:lnTo>
                  <a:pt x="0" y="16267"/>
                </a:lnTo>
                <a:lnTo>
                  <a:pt x="0" y="190798"/>
                </a:lnTo>
                <a:lnTo>
                  <a:pt x="0" y="193283"/>
                </a:lnTo>
                <a:lnTo>
                  <a:pt x="16268" y="209550"/>
                </a:lnTo>
                <a:lnTo>
                  <a:pt x="1793481" y="209550"/>
                </a:lnTo>
                <a:lnTo>
                  <a:pt x="1809750" y="193283"/>
                </a:lnTo>
                <a:lnTo>
                  <a:pt x="1809750" y="16267"/>
                </a:lnTo>
                <a:lnTo>
                  <a:pt x="1795868" y="476"/>
                </a:lnTo>
                <a:lnTo>
                  <a:pt x="1793481" y="0"/>
                </a:lnTo>
                <a:close/>
              </a:path>
            </a:pathLst>
          </a:custGeom>
          <a:solidFill>
            <a:srgbClr val="3022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5894730" y="1201046"/>
            <a:ext cx="4951730" cy="6737984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40"/>
              </a:spcBef>
              <a:tabLst>
                <a:tab pos="405130" algn="l"/>
              </a:tabLst>
            </a:pPr>
            <a:r>
              <a:rPr sz="2000" dirty="0">
                <a:latin typeface="Times New Roman"/>
                <a:cs typeface="Times New Roman"/>
              </a:rPr>
              <a:t>	</a:t>
            </a:r>
            <a:r>
              <a:rPr sz="1750" b="1" spc="55" dirty="0">
                <a:solidFill>
                  <a:srgbClr val="F94CAE"/>
                </a:solidFill>
                <a:latin typeface="Trebuchet MS"/>
                <a:cs typeface="Trebuchet MS"/>
              </a:rPr>
              <a:t>Instalação</a:t>
            </a:r>
            <a:r>
              <a:rPr sz="1750" b="1" spc="21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e</a:t>
            </a:r>
            <a:r>
              <a:rPr sz="1750" b="1" spc="21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60" dirty="0">
                <a:solidFill>
                  <a:srgbClr val="F94CAE"/>
                </a:solidFill>
                <a:latin typeface="Trebuchet MS"/>
                <a:cs typeface="Trebuchet MS"/>
              </a:rPr>
              <a:t>Execução</a:t>
            </a:r>
            <a:r>
              <a:rPr sz="1750" b="1" spc="21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dirty="0">
                <a:solidFill>
                  <a:srgbClr val="F94CAE"/>
                </a:solidFill>
                <a:latin typeface="Trebuchet MS"/>
                <a:cs typeface="Trebuchet MS"/>
              </a:rPr>
              <a:t>do</a:t>
            </a:r>
            <a:r>
              <a:rPr sz="1750" b="1" spc="215" dirty="0">
                <a:solidFill>
                  <a:srgbClr val="F94CAE"/>
                </a:solidFill>
                <a:latin typeface="Trebuchet MS"/>
                <a:cs typeface="Trebuchet MS"/>
              </a:rPr>
              <a:t> </a:t>
            </a:r>
            <a:r>
              <a:rPr sz="1750" b="1" spc="-10" dirty="0">
                <a:solidFill>
                  <a:srgbClr val="F94CAE"/>
                </a:solidFill>
                <a:latin typeface="Trebuchet MS"/>
                <a:cs typeface="Trebuchet MS"/>
              </a:rPr>
              <a:t>Projeto</a:t>
            </a:r>
            <a:endParaRPr sz="1750" dirty="0">
              <a:latin typeface="Trebuchet MS"/>
              <a:cs typeface="Trebuchet MS"/>
            </a:endParaRPr>
          </a:p>
          <a:p>
            <a:pPr marL="12700">
              <a:lnSpc>
                <a:spcPct val="100000"/>
              </a:lnSpc>
              <a:spcBef>
                <a:spcPts val="1575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rodar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45" dirty="0">
                <a:solidFill>
                  <a:srgbClr val="DAD1E6"/>
                </a:solidFill>
                <a:latin typeface="Trebuchet MS"/>
                <a:cs typeface="Trebuchet MS"/>
              </a:rPr>
              <a:t>VaiJunto?</a:t>
            </a:r>
            <a:r>
              <a:rPr sz="1150" spc="-45" dirty="0">
                <a:solidFill>
                  <a:srgbClr val="DAD1E6"/>
                </a:solidFill>
                <a:latin typeface="Trebuchet MS"/>
                <a:cs typeface="Trebuchet MS"/>
              </a:rPr>
              <a:t>,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siga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estes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passos:</a:t>
            </a:r>
            <a:endParaRPr sz="1150" dirty="0">
              <a:latin typeface="Trebuchet MS"/>
              <a:cs typeface="Trebuchet MS"/>
            </a:endParaRPr>
          </a:p>
          <a:p>
            <a:pPr marL="252095" marR="96520" indent="-240029">
              <a:lnSpc>
                <a:spcPct val="135900"/>
              </a:lnSpc>
              <a:spcBef>
                <a:spcPts val="1125"/>
              </a:spcBef>
              <a:buFont typeface="Trebuchet MS"/>
              <a:buAutoNum type="arabicPeriod"/>
              <a:tabLst>
                <a:tab pos="252095" algn="l"/>
              </a:tabLst>
            </a:pP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Pré-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requisitos: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Certifique-se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ter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Node.js</a:t>
            </a:r>
            <a:r>
              <a:rPr sz="1150" b="1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(versão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mais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recente)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50" dirty="0">
                <a:solidFill>
                  <a:srgbClr val="DAD1E6"/>
                </a:solidFill>
                <a:latin typeface="Trebuchet MS"/>
                <a:cs typeface="Trebuchet MS"/>
              </a:rPr>
              <a:t>e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Expo</a:t>
            </a:r>
            <a:r>
              <a:rPr sz="1150" b="1" spc="-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CLI</a:t>
            </a:r>
            <a:r>
              <a:rPr sz="1150" b="1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instalados.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Expo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45" dirty="0">
                <a:solidFill>
                  <a:srgbClr val="DAD1E6"/>
                </a:solidFill>
                <a:latin typeface="Trebuchet MS"/>
                <a:cs typeface="Trebuchet MS"/>
              </a:rPr>
              <a:t>CLI,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execute</a:t>
            </a:r>
            <a:r>
              <a:rPr sz="1150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-1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80" dirty="0">
                <a:solidFill>
                  <a:srgbClr val="DAD1E6"/>
                </a:solidFill>
                <a:latin typeface="Lucida Sans Unicode"/>
                <a:cs typeface="Lucida Sans Unicode"/>
              </a:rPr>
              <a:t>-</a:t>
            </a:r>
            <a:r>
              <a:rPr sz="1150" spc="-195" dirty="0">
                <a:solidFill>
                  <a:srgbClr val="DAD1E6"/>
                </a:solidFill>
                <a:latin typeface="Lucida Sans Unicode"/>
                <a:cs typeface="Lucida Sans Unicode"/>
              </a:rPr>
              <a:t>g</a:t>
            </a:r>
            <a:r>
              <a:rPr sz="1150" spc="-1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80" dirty="0">
                <a:solidFill>
                  <a:srgbClr val="DAD1E6"/>
                </a:solidFill>
                <a:latin typeface="Lucida Sans Unicode"/>
                <a:cs typeface="Lucida Sans Unicode"/>
              </a:rPr>
              <a:t>expo-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cli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no</a:t>
            </a:r>
            <a:r>
              <a:rPr sz="1150" spc="-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terminal.</a:t>
            </a:r>
            <a:endParaRPr sz="1150" dirty="0">
              <a:latin typeface="Trebuchet MS"/>
              <a:cs typeface="Trebuchet MS"/>
            </a:endParaRPr>
          </a:p>
          <a:p>
            <a:pPr marL="252095" indent="-239395">
              <a:lnSpc>
                <a:spcPct val="100000"/>
              </a:lnSpc>
              <a:spcBef>
                <a:spcPts val="944"/>
              </a:spcBef>
              <a:buFont typeface="Trebuchet MS"/>
              <a:buAutoNum type="arabicPeriod"/>
              <a:tabLst>
                <a:tab pos="252095" algn="l"/>
              </a:tabLst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Instalar</a:t>
            </a:r>
            <a:r>
              <a:rPr sz="1150" b="1" spc="-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Dependências:</a:t>
            </a:r>
            <a:r>
              <a:rPr sz="1150" b="1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No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 diretório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projeto,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execute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3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endParaRPr sz="1150" dirty="0">
              <a:latin typeface="Lucida Sans Unicode"/>
              <a:cs typeface="Lucida Sans Unicode"/>
            </a:endParaRPr>
          </a:p>
          <a:p>
            <a:pPr marL="252095">
              <a:lnSpc>
                <a:spcPct val="100000"/>
              </a:lnSpc>
              <a:spcBef>
                <a:spcPts val="495"/>
              </a:spcBef>
            </a:pP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instalar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todas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as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dependências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listadas.</a:t>
            </a:r>
            <a:endParaRPr sz="1150" dirty="0">
              <a:latin typeface="Trebuchet MS"/>
              <a:cs typeface="Trebuchet MS"/>
            </a:endParaRPr>
          </a:p>
          <a:p>
            <a:pPr marL="252095" indent="-239395">
              <a:lnSpc>
                <a:spcPct val="100000"/>
              </a:lnSpc>
              <a:spcBef>
                <a:spcPts val="869"/>
              </a:spcBef>
              <a:buFont typeface="Trebuchet MS"/>
              <a:buAutoNum type="arabicPeriod" startAt="3"/>
              <a:tabLst>
                <a:tab pos="252095" algn="l"/>
              </a:tabLst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Instalação</a:t>
            </a:r>
            <a:r>
              <a:rPr sz="1150" b="1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Individual</a:t>
            </a:r>
            <a:r>
              <a:rPr sz="1150" b="1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b="1" spc="3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Dependências:</a:t>
            </a:r>
            <a:endParaRPr sz="1150" dirty="0">
              <a:latin typeface="Trebuchet MS"/>
              <a:cs typeface="Trebuchet MS"/>
            </a:endParaRPr>
          </a:p>
          <a:p>
            <a:pPr marL="492125">
              <a:lnSpc>
                <a:spcPct val="100000"/>
              </a:lnSpc>
              <a:spcBef>
                <a:spcPts val="944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Navigation:</a:t>
            </a:r>
            <a:r>
              <a:rPr sz="1150" b="1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3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35" dirty="0">
                <a:solidFill>
                  <a:srgbClr val="DAD1E6"/>
                </a:solidFill>
                <a:latin typeface="Lucida Sans Unicode"/>
                <a:cs typeface="Lucida Sans Unicode"/>
              </a:rPr>
              <a:t>@react-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navigation/native</a:t>
            </a:r>
            <a:endParaRPr sz="1150" dirty="0">
              <a:latin typeface="Lucida Sans Unicode"/>
              <a:cs typeface="Lucida Sans Unicode"/>
            </a:endParaRPr>
          </a:p>
          <a:p>
            <a:pPr marL="492125" marR="360045">
              <a:lnSpc>
                <a:spcPct val="135900"/>
              </a:lnSpc>
              <a:spcBef>
                <a:spcPts val="450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-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Native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Screens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e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Safe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5" dirty="0">
                <a:solidFill>
                  <a:srgbClr val="DAD1E6"/>
                </a:solidFill>
                <a:latin typeface="Trebuchet MS"/>
                <a:cs typeface="Trebuchet MS"/>
              </a:rPr>
              <a:t>Area</a:t>
            </a:r>
            <a:r>
              <a:rPr sz="1150" b="1" spc="-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Context: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react- </a:t>
            </a:r>
            <a:r>
              <a:rPr sz="1150" spc="-30" dirty="0">
                <a:solidFill>
                  <a:srgbClr val="DAD1E6"/>
                </a:solidFill>
                <a:latin typeface="Lucida Sans Unicode"/>
                <a:cs typeface="Lucida Sans Unicode"/>
              </a:rPr>
              <a:t>native-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screens</a:t>
            </a:r>
            <a:r>
              <a:rPr sz="1150" spc="14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react-</a:t>
            </a:r>
            <a:r>
              <a:rPr sz="1150" spc="-55" dirty="0">
                <a:solidFill>
                  <a:srgbClr val="DAD1E6"/>
                </a:solidFill>
                <a:latin typeface="Lucida Sans Unicode"/>
                <a:cs typeface="Lucida Sans Unicode"/>
              </a:rPr>
              <a:t>native-safe-area-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context</a:t>
            </a:r>
            <a:endParaRPr sz="1150" dirty="0">
              <a:latin typeface="Lucida Sans Unicode"/>
              <a:cs typeface="Lucida Sans Unicode"/>
            </a:endParaRPr>
          </a:p>
          <a:p>
            <a:pPr marL="492125">
              <a:lnSpc>
                <a:spcPct val="100000"/>
              </a:lnSpc>
              <a:spcBef>
                <a:spcPts val="944"/>
              </a:spcBef>
            </a:pPr>
            <a:r>
              <a:rPr sz="1150" b="1" spc="-25" dirty="0">
                <a:solidFill>
                  <a:srgbClr val="DAD1E6"/>
                </a:solidFill>
                <a:latin typeface="Trebuchet MS"/>
                <a:cs typeface="Trebuchet MS"/>
              </a:rPr>
              <a:t>Picker:</a:t>
            </a:r>
            <a:r>
              <a:rPr sz="1150" b="1" spc="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-1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@react-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native-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picker/picker</a:t>
            </a:r>
            <a:endParaRPr sz="1150" dirty="0">
              <a:latin typeface="Lucida Sans Unicode"/>
              <a:cs typeface="Lucida Sans Unicode"/>
            </a:endParaRPr>
          </a:p>
          <a:p>
            <a:pPr marL="492125">
              <a:lnSpc>
                <a:spcPct val="100000"/>
              </a:lnSpc>
              <a:spcBef>
                <a:spcPts val="869"/>
              </a:spcBef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React</a:t>
            </a:r>
            <a:r>
              <a:rPr sz="1150" b="1" spc="-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Native</a:t>
            </a:r>
            <a:r>
              <a:rPr sz="1150" b="1" spc="-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Calendars: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npm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35" dirty="0">
                <a:solidFill>
                  <a:srgbClr val="DAD1E6"/>
                </a:solidFill>
                <a:latin typeface="Lucida Sans Unicode"/>
                <a:cs typeface="Lucida Sans Unicode"/>
              </a:rPr>
              <a:t>react-native-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calendars</a:t>
            </a:r>
            <a:endParaRPr sz="1150" dirty="0">
              <a:latin typeface="Lucida Sans Unicode"/>
              <a:cs typeface="Lucida Sans Unicode"/>
            </a:endParaRPr>
          </a:p>
          <a:p>
            <a:pPr marL="252729" marR="179070" indent="-240665">
              <a:lnSpc>
                <a:spcPct val="168500"/>
              </a:lnSpc>
              <a:buFont typeface="Trebuchet MS"/>
              <a:buAutoNum type="arabicPeriod" startAt="4"/>
              <a:tabLst>
                <a:tab pos="492125" algn="l"/>
              </a:tabLst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Configuração</a:t>
            </a: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do</a:t>
            </a:r>
            <a:r>
              <a:rPr sz="1150" b="1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Back-end</a:t>
            </a:r>
            <a:r>
              <a:rPr sz="1150" b="1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(Django):</a:t>
            </a:r>
            <a:r>
              <a:rPr sz="1150" b="1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No</a:t>
            </a:r>
            <a:r>
              <a:rPr sz="1150" spc="3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diretório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django_backend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: 	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Crie</a:t>
            </a:r>
            <a:r>
              <a:rPr sz="1150" spc="-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um</a:t>
            </a:r>
            <a:r>
              <a:rPr sz="1150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ambiente</a:t>
            </a:r>
            <a:r>
              <a:rPr sz="1150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virtual:</a:t>
            </a:r>
            <a:r>
              <a:rPr sz="1150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python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14" dirty="0">
                <a:solidFill>
                  <a:srgbClr val="DAD1E6"/>
                </a:solidFill>
                <a:latin typeface="Lucida Sans Unicode"/>
                <a:cs typeface="Lucida Sans Unicode"/>
              </a:rPr>
              <a:t>-</a:t>
            </a:r>
            <a:r>
              <a:rPr sz="1150" spc="-180" dirty="0">
                <a:solidFill>
                  <a:srgbClr val="DAD1E6"/>
                </a:solidFill>
                <a:latin typeface="Lucida Sans Unicode"/>
                <a:cs typeface="Lucida Sans Unicode"/>
              </a:rPr>
              <a:t>m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venv</a:t>
            </a:r>
            <a:r>
              <a:rPr sz="1150" spc="-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venv</a:t>
            </a:r>
            <a:endParaRPr sz="1150" dirty="0">
              <a:latin typeface="Lucida Sans Unicode"/>
              <a:cs typeface="Lucida Sans Unicode"/>
            </a:endParaRPr>
          </a:p>
          <a:p>
            <a:pPr marL="492125">
              <a:lnSpc>
                <a:spcPct val="100000"/>
              </a:lnSpc>
              <a:spcBef>
                <a:spcPts val="869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Ative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ambiente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virtual: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30" dirty="0">
                <a:solidFill>
                  <a:srgbClr val="DAD1E6"/>
                </a:solidFill>
                <a:latin typeface="Lucida Sans Unicode"/>
                <a:cs typeface="Lucida Sans Unicode"/>
              </a:rPr>
              <a:t>venv\Scripts\activate</a:t>
            </a:r>
            <a:r>
              <a:rPr sz="1150" spc="2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(Windows)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ou</a:t>
            </a:r>
            <a:endParaRPr sz="1150" dirty="0">
              <a:latin typeface="Trebuchet MS"/>
              <a:cs typeface="Trebuchet MS"/>
            </a:endParaRPr>
          </a:p>
          <a:p>
            <a:pPr marL="492125">
              <a:lnSpc>
                <a:spcPct val="100000"/>
              </a:lnSpc>
              <a:spcBef>
                <a:spcPts val="570"/>
              </a:spcBef>
            </a:pP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source</a:t>
            </a:r>
            <a:r>
              <a:rPr sz="1150" spc="1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30" dirty="0">
                <a:solidFill>
                  <a:srgbClr val="DAD1E6"/>
                </a:solidFill>
                <a:latin typeface="Lucida Sans Unicode"/>
                <a:cs typeface="Lucida Sans Unicode"/>
              </a:rPr>
              <a:t>venv/bin/activate</a:t>
            </a:r>
            <a:r>
              <a:rPr sz="1150" spc="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(macOS/Linux)</a:t>
            </a:r>
            <a:endParaRPr sz="1150" dirty="0">
              <a:latin typeface="Trebuchet MS"/>
              <a:cs typeface="Trebuchet MS"/>
            </a:endParaRPr>
          </a:p>
          <a:p>
            <a:pPr marL="492125">
              <a:lnSpc>
                <a:spcPct val="100000"/>
              </a:lnSpc>
              <a:spcBef>
                <a:spcPts val="869"/>
              </a:spcBef>
            </a:pP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Instale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as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dependências:</a:t>
            </a:r>
            <a:r>
              <a:rPr sz="1150" spc="6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pip</a:t>
            </a:r>
            <a:r>
              <a:rPr sz="1150" spc="3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Lucida Sans Unicode"/>
                <a:cs typeface="Lucida Sans Unicode"/>
              </a:rPr>
              <a:t>install</a:t>
            </a:r>
            <a:r>
              <a:rPr sz="1150" spc="2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75" dirty="0">
                <a:solidFill>
                  <a:srgbClr val="DAD1E6"/>
                </a:solidFill>
                <a:latin typeface="Lucida Sans Unicode"/>
                <a:cs typeface="Lucida Sans Unicode"/>
              </a:rPr>
              <a:t>-</a:t>
            </a:r>
            <a:r>
              <a:rPr sz="1150" spc="-125" dirty="0">
                <a:solidFill>
                  <a:srgbClr val="DAD1E6"/>
                </a:solidFill>
                <a:latin typeface="Lucida Sans Unicode"/>
                <a:cs typeface="Lucida Sans Unicode"/>
              </a:rPr>
              <a:t>r</a:t>
            </a:r>
            <a:r>
              <a:rPr sz="1150" spc="3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requirements.txt</a:t>
            </a:r>
            <a:endParaRPr sz="1150" dirty="0">
              <a:latin typeface="Lucida Sans Unicode"/>
              <a:cs typeface="Lucida Sans Unicode"/>
            </a:endParaRPr>
          </a:p>
          <a:p>
            <a:pPr marL="252095" marR="136525" indent="-240029" algn="just">
              <a:lnSpc>
                <a:spcPct val="135900"/>
              </a:lnSpc>
              <a:spcBef>
                <a:spcPts val="450"/>
              </a:spcBef>
              <a:buFont typeface="Trebuchet MS"/>
              <a:buAutoNum type="arabicPeriod" startAt="5"/>
              <a:tabLst>
                <a:tab pos="252095" algn="l"/>
              </a:tabLst>
            </a:pP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Rodando</a:t>
            </a:r>
            <a:r>
              <a:rPr sz="1150" b="1" spc="-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b="1" spc="-1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DAD1E6"/>
                </a:solidFill>
                <a:latin typeface="Trebuchet MS"/>
                <a:cs typeface="Trebuchet MS"/>
              </a:rPr>
              <a:t>Projeto:</a:t>
            </a:r>
            <a:r>
              <a:rPr sz="1150" b="1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Execute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40" dirty="0">
                <a:solidFill>
                  <a:srgbClr val="DAD1E6"/>
                </a:solidFill>
                <a:latin typeface="Lucida Sans Unicode"/>
                <a:cs typeface="Lucida Sans Unicode"/>
              </a:rPr>
              <a:t>npx</a:t>
            </a:r>
            <a:r>
              <a:rPr sz="1150" spc="-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expo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start</a:t>
            </a:r>
            <a:r>
              <a:rPr sz="1150" spc="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iniciar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Expo</a:t>
            </a:r>
            <a:r>
              <a:rPr sz="1150" spc="2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Dev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Tools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no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navegador.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partir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daí,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você</a:t>
            </a:r>
            <a:r>
              <a:rPr sz="1150" spc="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poderá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rodar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aplicativo</a:t>
            </a:r>
            <a:r>
              <a:rPr sz="1150" spc="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em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emuladores</a:t>
            </a:r>
            <a:r>
              <a:rPr sz="1150" spc="1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65" dirty="0">
                <a:solidFill>
                  <a:srgbClr val="DAD1E6"/>
                </a:solidFill>
                <a:latin typeface="Trebuchet MS"/>
                <a:cs typeface="Trebuchet MS"/>
              </a:rPr>
              <a:t>ou</a:t>
            </a:r>
            <a:r>
              <a:rPr sz="1150" spc="1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20" dirty="0">
                <a:solidFill>
                  <a:srgbClr val="DAD1E6"/>
                </a:solidFill>
                <a:latin typeface="Trebuchet MS"/>
                <a:cs typeface="Trebuchet MS"/>
              </a:rPr>
              <a:t>dispositivos</a:t>
            </a:r>
            <a:r>
              <a:rPr sz="1150" spc="12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móveis.</a:t>
            </a:r>
            <a:endParaRPr sz="1150" dirty="0">
              <a:latin typeface="Trebuchet MS"/>
              <a:cs typeface="Trebuchet MS"/>
            </a:endParaRPr>
          </a:p>
          <a:p>
            <a:pPr marL="252095" marR="5080" indent="-240029">
              <a:lnSpc>
                <a:spcPct val="135900"/>
              </a:lnSpc>
              <a:spcBef>
                <a:spcPts val="450"/>
              </a:spcBef>
              <a:buFont typeface="Trebuchet MS"/>
              <a:buAutoNum type="arabicPeriod" startAt="5"/>
              <a:tabLst>
                <a:tab pos="252095" algn="l"/>
              </a:tabLst>
            </a:pPr>
            <a:r>
              <a:rPr sz="1150" b="1" spc="-10" dirty="0">
                <a:solidFill>
                  <a:srgbClr val="DAD1E6"/>
                </a:solidFill>
                <a:latin typeface="Trebuchet MS"/>
                <a:cs typeface="Trebuchet MS"/>
              </a:rPr>
              <a:t>Verificando</a:t>
            </a:r>
            <a:r>
              <a:rPr sz="1150" b="1" spc="-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b="1" spc="-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Banco</a:t>
            </a:r>
            <a:r>
              <a:rPr sz="1150" b="1" spc="-4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b="1" spc="-4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DAD1E6"/>
                </a:solidFill>
                <a:latin typeface="Trebuchet MS"/>
                <a:cs typeface="Trebuchet MS"/>
              </a:rPr>
              <a:t>Dados:</a:t>
            </a:r>
            <a:r>
              <a:rPr sz="1150" b="1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Execute</a:t>
            </a:r>
            <a:r>
              <a:rPr sz="1150" spc="-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python</a:t>
            </a:r>
            <a:r>
              <a:rPr sz="1150" spc="-3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Lucida Sans Unicode"/>
                <a:cs typeface="Lucida Sans Unicode"/>
              </a:rPr>
              <a:t>manage.py</a:t>
            </a:r>
            <a:r>
              <a:rPr sz="1150" spc="500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DAD1E6"/>
                </a:solidFill>
                <a:latin typeface="Lucida Sans Unicode"/>
                <a:cs typeface="Lucida Sans Unicode"/>
              </a:rPr>
              <a:t>runserver</a:t>
            </a:r>
            <a:r>
              <a:rPr sz="1150" spc="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spc="-20" dirty="0">
                <a:solidFill>
                  <a:srgbClr val="DAD1E6"/>
                </a:solidFill>
                <a:latin typeface="Lucida Sans Unicode"/>
                <a:cs typeface="Lucida Sans Unicode"/>
              </a:rPr>
              <a:t>"IP_LOCAL":800</a:t>
            </a:r>
            <a:r>
              <a:rPr sz="1150" spc="45" dirty="0">
                <a:solidFill>
                  <a:srgbClr val="DAD1E6"/>
                </a:solidFill>
                <a:latin typeface="Lucida Sans Unicode"/>
                <a:cs typeface="Lucida Sans Unicode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(substitua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IP_LOCAL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pelo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seu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endereço</a:t>
            </a:r>
            <a:r>
              <a:rPr sz="1150" spc="7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25" dirty="0">
                <a:solidFill>
                  <a:srgbClr val="DAD1E6"/>
                </a:solidFill>
                <a:latin typeface="Trebuchet MS"/>
                <a:cs typeface="Trebuchet MS"/>
              </a:rPr>
              <a:t>IP)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para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verificar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a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conexão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com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70" dirty="0">
                <a:solidFill>
                  <a:srgbClr val="DAD1E6"/>
                </a:solidFill>
                <a:latin typeface="Trebuchet MS"/>
                <a:cs typeface="Trebuchet MS"/>
              </a:rPr>
              <a:t>o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banco</a:t>
            </a:r>
            <a:r>
              <a:rPr sz="1150" spc="55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DAD1E6"/>
                </a:solidFill>
                <a:latin typeface="Trebuchet MS"/>
                <a:cs typeface="Trebuchet MS"/>
              </a:rPr>
              <a:t>de</a:t>
            </a:r>
            <a:r>
              <a:rPr sz="1150" spc="50" dirty="0">
                <a:solidFill>
                  <a:srgbClr val="DAD1E6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DAD1E6"/>
                </a:solidFill>
                <a:latin typeface="Trebuchet MS"/>
                <a:cs typeface="Trebuchet MS"/>
              </a:rPr>
              <a:t>dados.</a:t>
            </a:r>
            <a:endParaRPr sz="1150" dirty="0">
              <a:latin typeface="Trebuchet MS"/>
              <a:cs typeface="Trebuchet MS"/>
            </a:endParaRPr>
          </a:p>
        </p:txBody>
      </p:sp>
      <p:pic>
        <p:nvPicPr>
          <p:cNvPr id="37" name="object 37">
            <a:hlinkClick r:id="rId2"/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580244" y="7919466"/>
            <a:ext cx="1754504" cy="41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1430001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8062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1430001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49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1430001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753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1430001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158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1430000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871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1430000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503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1430001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30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1430000" cy="1089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706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94CA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473</Words>
  <Application>Microsoft Office PowerPoint</Application>
  <PresentationFormat>Personalizar</PresentationFormat>
  <Paragraphs>73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7" baseType="lpstr">
      <vt:lpstr>Lucida Sans Unicode</vt:lpstr>
      <vt:lpstr>Times New Roman</vt:lpstr>
      <vt:lpstr>Trebuchet MS</vt:lpstr>
      <vt:lpstr>Office Theme</vt:lpstr>
      <vt:lpstr>VaiJunto? Conectando Universitários com Caronas Inteligentes</vt:lpstr>
      <vt:lpstr>A Equipe Por Trás do VaiJunto?</vt:lpstr>
      <vt:lpstr>Visão Geral do Projeto e Sumário</vt:lpstr>
      <vt:lpstr>Requisitos e Configuração do Ambiente de Desenvolvimento</vt:lpstr>
      <vt:lpstr>Funcionalidades e Instalação de Dependências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creator>User</dc:creator>
  <cp:lastModifiedBy>User</cp:lastModifiedBy>
  <cp:revision>2</cp:revision>
  <dcterms:created xsi:type="dcterms:W3CDTF">2025-11-15T00:50:35Z</dcterms:created>
  <dcterms:modified xsi:type="dcterms:W3CDTF">2025-11-15T01:01:55Z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2025-11-14T00:00:00Z</vt:filetime>
  </property>
  <property fmtid="{D5CDD505-2E9C-101B-9397-08002B2CF9AE}" pid="3" name="Creator">
    <vt:lpwstr>pdf-lib (https://github.com/Hopding/pdf-lib)</vt:lpwstr>
  </property>
  <property fmtid="{D5CDD505-2E9C-101B-9397-08002B2CF9AE}" pid="4" name="LastSaved">
    <vt:filetime>2025-11-15T00:00:00Z</vt:filetime>
  </property>
  <property fmtid="{D5CDD505-2E9C-101B-9397-08002B2CF9AE}" pid="5" name="Producer">
    <vt:lpwstr>GPL Ghostscript 9.56.1</vt:lpwstr>
  </property>
</Properties>
</file>